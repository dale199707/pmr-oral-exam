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8" roundtripDataSignature="AMtx7miGzyy2ds/X+WzoJzOOsZmMDpZ31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38" Type="http://customschemas.google.com/relationships/presentationmetadata" Target="meta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‒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個內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3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3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3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3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內容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4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圖片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zh-TW"/>
              <a:t>口試準備考題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zh-TW"/>
              <a:t>2026/04/02 [4題]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/>
              <a:t>第一題</a:t>
            </a:r>
            <a:endParaRPr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zh-TW"/>
              <a:t>45歲女性老師，長期需要抬手寫黑板。抱怨慣用手右手有疼痛和活動度受限已經三個月了，手高舉過頭或壓到患部的時候症狀更明顯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zh-TW"/>
              <a:t>理學和影像檢查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‒"/>
            </a:pPr>
            <a:r>
              <a:rPr lang="zh-TW"/>
              <a:t>Neer test：positive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‒"/>
            </a:pPr>
            <a:r>
              <a:rPr lang="zh-TW"/>
              <a:t>Hawkins-Kennedy test：positive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‒"/>
            </a:pPr>
            <a:r>
              <a:rPr lang="zh-TW"/>
              <a:t>Empty can test：positive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‒"/>
            </a:pPr>
            <a:r>
              <a:rPr lang="zh-TW"/>
              <a:t>肩膀X光和超音波如右圖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descr="Google Shape;1712;p240" id="92" name="Google Shape;92;p2"/>
          <p:cNvPicPr preferRelativeResize="0"/>
          <p:nvPr/>
        </p:nvPicPr>
        <p:blipFill rotWithShape="1">
          <a:blip r:embed="rId3">
            <a:alphaModFix/>
          </a:blip>
          <a:srcRect b="35942" l="49190" r="0" t="35942"/>
          <a:stretch/>
        </p:blipFill>
        <p:spPr>
          <a:xfrm>
            <a:off x="5097581" y="4422793"/>
            <a:ext cx="3674526" cy="243520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2"/>
          <p:cNvPicPr preferRelativeResize="0"/>
          <p:nvPr/>
        </p:nvPicPr>
        <p:blipFill rotWithShape="1">
          <a:blip r:embed="rId4">
            <a:alphaModFix/>
          </a:blip>
          <a:srcRect b="0" l="33302" r="33178" t="0"/>
          <a:stretch/>
        </p:blipFill>
        <p:spPr>
          <a:xfrm>
            <a:off x="8579601" y="3405778"/>
            <a:ext cx="3375494" cy="34522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/>
              <a:t>Q1</a:t>
            </a:r>
            <a:endParaRPr/>
          </a:p>
        </p:txBody>
      </p:sp>
      <p:sp>
        <p:nvSpPr>
          <p:cNvPr id="99" name="Google Shape;9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zh-TW" sz="4000"/>
              <a:t>請問病人的診斷為何？</a:t>
            </a:r>
            <a:endParaRPr sz="4000"/>
          </a:p>
          <a:p>
            <a:pPr indent="-2540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zh-TW" sz="4000"/>
              <a:t>依照Gartner 分級應為哪一個type？</a:t>
            </a:r>
            <a:endParaRPr/>
          </a:p>
        </p:txBody>
      </p:sp>
      <p:pic>
        <p:nvPicPr>
          <p:cNvPr descr="Google Shape;1712;p240" id="100" name="Google Shape;100;p3"/>
          <p:cNvPicPr preferRelativeResize="0"/>
          <p:nvPr/>
        </p:nvPicPr>
        <p:blipFill rotWithShape="1">
          <a:blip r:embed="rId3">
            <a:alphaModFix/>
          </a:blip>
          <a:srcRect b="35942" l="49190" r="0" t="35942"/>
          <a:stretch/>
        </p:blipFill>
        <p:spPr>
          <a:xfrm>
            <a:off x="5097581" y="4422793"/>
            <a:ext cx="3674526" cy="24352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3"/>
          <p:cNvPicPr preferRelativeResize="0"/>
          <p:nvPr/>
        </p:nvPicPr>
        <p:blipFill rotWithShape="1">
          <a:blip r:embed="rId4">
            <a:alphaModFix/>
          </a:blip>
          <a:srcRect b="0" l="33302" r="33178" t="0"/>
          <a:stretch/>
        </p:blipFill>
        <p:spPr>
          <a:xfrm>
            <a:off x="8579601" y="3405778"/>
            <a:ext cx="3375494" cy="34522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oogle Shape;1427;p170" id="106" name="Google Shape;10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49267" y="1581743"/>
            <a:ext cx="4839102" cy="4839102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/>
              <a:t>Q2</a:t>
            </a:r>
            <a:endParaRPr/>
          </a:p>
        </p:txBody>
      </p:sp>
      <p:sp>
        <p:nvSpPr>
          <p:cNvPr id="108" name="Google Shape;108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zh-TW" sz="4000"/>
              <a:t>這台儀器是什麼？</a:t>
            </a:r>
            <a:endParaRPr sz="4000"/>
          </a:p>
          <a:p>
            <a:pPr indent="-2540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zh-TW" sz="4000"/>
              <a:t>可以針對鈣化點做治療嗎？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/>
              <a:t>Q3</a:t>
            </a:r>
            <a:endParaRPr/>
          </a:p>
        </p:txBody>
      </p:sp>
      <p:sp>
        <p:nvSpPr>
          <p:cNvPr id="114" name="Google Shape;114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zh-TW" sz="4000"/>
              <a:t>震波Level I的適應症還有什麼？</a:t>
            </a:r>
            <a:endParaRPr sz="4000"/>
          </a:p>
          <a:p>
            <a:pPr indent="-2540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zh-TW" sz="4000"/>
              <a:t>FDA approved的適應症有哪些？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/>
              <a:t>Q4</a:t>
            </a:r>
            <a:endParaRPr/>
          </a:p>
        </p:txBody>
      </p:sp>
      <p:sp>
        <p:nvSpPr>
          <p:cNvPr id="120" name="Google Shape;120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zh-TW" sz="4000"/>
              <a:t>震波的禁忌症有哪些？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/>
              <a:t>Q5</a:t>
            </a:r>
            <a:endParaRPr/>
          </a:p>
        </p:txBody>
      </p:sp>
      <p:sp>
        <p:nvSpPr>
          <p:cNvPr id="126" name="Google Shape;126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zh-TW" sz="4000"/>
              <a:t>請簡述震波的作用原理？</a:t>
            </a:r>
            <a:endParaRPr sz="4000"/>
          </a:p>
          <a:p>
            <a:pPr indent="-2540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zh-TW" sz="4000"/>
              <a:t>震波可分為聚焦式和發散式，請分別簡述他們的作用機轉為何？</a:t>
            </a:r>
            <a:endParaRPr sz="4000"/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t/>
            </a:r>
            <a:endParaRPr sz="4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/>
              <a:t>Q6</a:t>
            </a:r>
            <a:endParaRPr/>
          </a:p>
        </p:txBody>
      </p:sp>
      <p:sp>
        <p:nvSpPr>
          <p:cNvPr id="132" name="Google Shape;132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zh-TW" sz="4000"/>
              <a:t>根據這個病人你換選用哪種震波？</a:t>
            </a:r>
            <a:endParaRPr sz="4000"/>
          </a:p>
          <a:p>
            <a:pPr indent="-2540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zh-TW" sz="4000"/>
              <a:t>怎麼調整參數？ （頻率、強度、發數、療程）</a:t>
            </a:r>
            <a:endParaRPr sz="4000"/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t/>
            </a:r>
            <a:endParaRPr sz="4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/>
              <a:t>Q7</a:t>
            </a:r>
            <a:endParaRPr/>
          </a:p>
        </p:txBody>
      </p:sp>
      <p:sp>
        <p:nvSpPr>
          <p:cNvPr id="138" name="Google Shape;138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zh-TW" sz="4000"/>
              <a:t>若治療過程中病人疼痛下降了，可能的原因？</a:t>
            </a:r>
            <a:endParaRPr sz="4000"/>
          </a:p>
          <a:p>
            <a:pPr indent="-2540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zh-TW" sz="4000"/>
              <a:t>如果病人疼痛超過7分該怎麼調整？</a:t>
            </a:r>
            <a:endParaRPr sz="4000"/>
          </a:p>
          <a:p>
            <a:pPr indent="-2540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zh-TW" sz="4000"/>
              <a:t>其他注意事項？ （藥物、操作者姿勢等）</a:t>
            </a:r>
            <a:endParaRPr sz="4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/>
              <a:t>第二題</a:t>
            </a:r>
            <a:endParaRPr/>
          </a:p>
        </p:txBody>
      </p:sp>
      <p:sp>
        <p:nvSpPr>
          <p:cNvPr id="144" name="Google Shape;144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zh-TW"/>
              <a:t>25歲女性上班族，主訴長期因久坐導致慢性下背痛半年了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‒"/>
            </a:pPr>
            <a:r>
              <a:rPr lang="zh-TW"/>
              <a:t>理學檢查：下肢肌力正常、無感覺異常等神經學症狀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‒"/>
            </a:pPr>
            <a:r>
              <a:rPr lang="zh-TW"/>
              <a:t>影像檢查：無明顯結構異常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zh-TW"/>
              <a:t>之後為她安排了儀器治療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/>
              <a:t>Q1</a:t>
            </a:r>
            <a:endParaRPr/>
          </a:p>
        </p:txBody>
      </p:sp>
      <p:sp>
        <p:nvSpPr>
          <p:cNvPr id="150" name="Google Shape;150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zh-TW" sz="4000"/>
              <a:t>這是什麼儀器？</a:t>
            </a:r>
            <a:endParaRPr sz="4000"/>
          </a:p>
          <a:p>
            <a:pPr indent="-2540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zh-TW" sz="4000"/>
              <a:t>電容式和電感式的差異？</a:t>
            </a:r>
            <a:endParaRPr sz="4000"/>
          </a:p>
        </p:txBody>
      </p:sp>
      <p:pic>
        <p:nvPicPr>
          <p:cNvPr descr="Google Shape;386;p38" id="151" name="Google Shape;15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53833" y="431991"/>
            <a:ext cx="3283367" cy="6343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/>
              <a:t>Q2</a:t>
            </a:r>
            <a:endParaRPr/>
          </a:p>
        </p:txBody>
      </p:sp>
      <p:sp>
        <p:nvSpPr>
          <p:cNvPr id="157" name="Google Shape;157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zh-TW" sz="4000"/>
              <a:t>短波的原理、適應症與禁忌症？</a:t>
            </a:r>
            <a:endParaRPr sz="4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t/>
            </a:r>
            <a:endParaRPr sz="4000"/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t/>
            </a:r>
            <a:endParaRPr sz="4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/>
              <a:t>Q3</a:t>
            </a:r>
            <a:endParaRPr/>
          </a:p>
        </p:txBody>
      </p:sp>
      <p:sp>
        <p:nvSpPr>
          <p:cNvPr id="163" name="Google Shape;163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zh-TW" sz="4000"/>
              <a:t>儀器擺放在治療區時，有沒有什麼注意事項？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/>
              <a:t>Q4</a:t>
            </a:r>
            <a:endParaRPr/>
          </a:p>
        </p:txBody>
      </p:sp>
      <p:sp>
        <p:nvSpPr>
          <p:cNvPr id="169" name="Google Shape;169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zh-TW" sz="4000"/>
              <a:t>治療模式分為Continuous和Pulsed，有何差異？</a:t>
            </a:r>
            <a:endParaRPr sz="4000"/>
          </a:p>
          <a:p>
            <a:pPr indent="-2540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zh-TW" sz="4000"/>
              <a:t>這個病人應該選用哪種模式？</a:t>
            </a:r>
            <a:endParaRPr sz="4000"/>
          </a:p>
          <a:p>
            <a:pPr indent="-2540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zh-TW" sz="4000"/>
              <a:t>要怎麼調整參數？（模式、強度、治療時間）</a:t>
            </a:r>
            <a:endParaRPr sz="4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/>
              <a:t>Q5</a:t>
            </a:r>
            <a:endParaRPr/>
          </a:p>
        </p:txBody>
      </p:sp>
      <p:sp>
        <p:nvSpPr>
          <p:cNvPr id="175" name="Google Shape;175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zh-TW" sz="4000"/>
              <a:t>要怎麼操作電容式的短波來治療這位病人？</a:t>
            </a:r>
            <a:endParaRPr sz="4000"/>
          </a:p>
          <a:p>
            <a:pPr indent="-2540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zh-TW" sz="4000"/>
              <a:t>操作時有什麼注意事項？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/>
              <a:t>Q6</a:t>
            </a:r>
            <a:endParaRPr/>
          </a:p>
        </p:txBody>
      </p:sp>
      <p:sp>
        <p:nvSpPr>
          <p:cNvPr id="181" name="Google Shape;181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zh-TW" sz="4000"/>
              <a:t>病人覺得沒什麼感覺，該如何回答？</a:t>
            </a:r>
            <a:endParaRPr sz="4000"/>
          </a:p>
          <a:p>
            <a:pPr indent="-2540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zh-TW" sz="4000"/>
              <a:t>病人覺得不夠熱，想再熱一點該怎麼回答？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/>
              <a:t>Q7</a:t>
            </a:r>
            <a:endParaRPr/>
          </a:p>
        </p:txBody>
      </p:sp>
      <p:sp>
        <p:nvSpPr>
          <p:cNvPr id="187" name="Google Shape;187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zh-TW" sz="4000"/>
              <a:t>若病人正在懷孕中，可以做短波治療嗎？</a:t>
            </a:r>
            <a:endParaRPr sz="4000"/>
          </a:p>
          <a:p>
            <a:pPr indent="-2540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zh-TW" sz="4000"/>
              <a:t>不行的話還可以做什麼Modality？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/>
              <a:t>第三題</a:t>
            </a:r>
            <a:endParaRPr/>
          </a:p>
        </p:txBody>
      </p:sp>
      <p:sp>
        <p:nvSpPr>
          <p:cNvPr id="193" name="Google Shape;193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zh-TW"/>
              <a:t>65歲男性，主訴雙側膝蓋疼痛數個月，無外傷跌倒病史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‒"/>
            </a:pPr>
            <a:r>
              <a:rPr lang="zh-TW"/>
              <a:t>理學檢查：膝關節邊緣有壓痛及腫脹，活動時有Crepitus，活動度下降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‒"/>
            </a:pPr>
            <a:r>
              <a:rPr lang="zh-TW"/>
              <a:t>X光如右圖 （右腳）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zh-TW"/>
              <a:t>檢查後為其安排復健治療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94" name="Google Shape;19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20025" y="2918298"/>
            <a:ext cx="3019382" cy="38636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/>
              <a:t>Q1</a:t>
            </a:r>
            <a:endParaRPr/>
          </a:p>
        </p:txBody>
      </p:sp>
      <p:sp>
        <p:nvSpPr>
          <p:cNvPr id="200" name="Google Shape;200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zh-TW" sz="4000"/>
              <a:t>請問病人是什麼診斷為何？</a:t>
            </a:r>
            <a:endParaRPr/>
          </a:p>
        </p:txBody>
      </p:sp>
      <p:pic>
        <p:nvPicPr>
          <p:cNvPr id="201" name="Google Shape;20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70221" y="1034541"/>
            <a:ext cx="4265618" cy="54583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/>
              <a:t>Q2</a:t>
            </a:r>
            <a:endParaRPr/>
          </a:p>
        </p:txBody>
      </p:sp>
      <p:sp>
        <p:nvSpPr>
          <p:cNvPr id="207" name="Google Shape;207;p20"/>
          <p:cNvSpPr txBox="1"/>
          <p:nvPr>
            <p:ph idx="1" type="body"/>
          </p:nvPr>
        </p:nvSpPr>
        <p:spPr>
          <a:xfrm>
            <a:off x="838200" y="1825625"/>
            <a:ext cx="5515708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zh-TW" sz="4000"/>
              <a:t>這台是什麼儀器？</a:t>
            </a:r>
            <a:endParaRPr sz="4000"/>
          </a:p>
          <a:p>
            <a:pPr indent="-2540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zh-TW" sz="4000"/>
              <a:t>怎麼看出來的？</a:t>
            </a:r>
            <a:endParaRPr sz="4000"/>
          </a:p>
          <a:p>
            <a:pPr indent="-2540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zh-TW" sz="4000"/>
              <a:t>跟TENS相比，治療患部時的貼法有什麼不同？</a:t>
            </a:r>
            <a:endParaRPr sz="4000"/>
          </a:p>
        </p:txBody>
      </p:sp>
      <p:pic>
        <p:nvPicPr>
          <p:cNvPr descr="Google Shape;615;p69" id="208" name="Google Shape;20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5908" y="380409"/>
            <a:ext cx="4103077" cy="6452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2276" y="4460840"/>
            <a:ext cx="4583724" cy="22739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/>
              <a:t>Q3</a:t>
            </a:r>
            <a:endParaRPr/>
          </a:p>
        </p:txBody>
      </p:sp>
      <p:sp>
        <p:nvSpPr>
          <p:cNvPr id="215" name="Google Shape;215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zh-TW" sz="4000"/>
              <a:t>IFC的原理是什麼？</a:t>
            </a:r>
            <a:endParaRPr sz="4000"/>
          </a:p>
          <a:p>
            <a:pPr indent="-2540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zh-TW" sz="4000"/>
              <a:t>不同的拍頻有什麼不同的效果？</a:t>
            </a:r>
            <a:endParaRPr sz="4000"/>
          </a:p>
          <a:p>
            <a:pPr indent="-2540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zh-TW" sz="4000"/>
              <a:t>止痛的原理是什麼？</a:t>
            </a:r>
            <a:endParaRPr sz="4000"/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t/>
            </a:r>
            <a:endParaRPr sz="4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/>
              <a:t>Q4</a:t>
            </a:r>
            <a:endParaRPr/>
          </a:p>
        </p:txBody>
      </p:sp>
      <p:sp>
        <p:nvSpPr>
          <p:cNvPr id="221" name="Google Shape;221;p2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zh-TW" sz="4000"/>
              <a:t>IFC的適應症有哪些？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/>
              <a:t>Q5</a:t>
            </a:r>
            <a:endParaRPr/>
          </a:p>
        </p:txBody>
      </p:sp>
      <p:sp>
        <p:nvSpPr>
          <p:cNvPr id="227" name="Google Shape;227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zh-TW" sz="4000"/>
              <a:t>IFC的禁忌症有哪些？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/>
              <a:t>Q6</a:t>
            </a:r>
            <a:endParaRPr/>
          </a:p>
        </p:txBody>
      </p:sp>
      <p:sp>
        <p:nvSpPr>
          <p:cNvPr id="233" name="Google Shape;233;p2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zh-TW" sz="4000"/>
              <a:t>IFC要怎麼操作？（基頻、模式、時間、電量）</a:t>
            </a:r>
            <a:endParaRPr sz="4000"/>
          </a:p>
          <a:p>
            <a:pPr indent="-2540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zh-TW" sz="4000"/>
              <a:t>Scan mode和Sweep mode差在哪？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/>
              <a:t>Q7</a:t>
            </a:r>
            <a:endParaRPr/>
          </a:p>
        </p:txBody>
      </p:sp>
      <p:sp>
        <p:nvSpPr>
          <p:cNvPr id="239" name="Google Shape;239;p2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zh-TW" sz="4000"/>
              <a:t>c有什麼注意事項？</a:t>
            </a:r>
            <a:endParaRPr sz="4000"/>
          </a:p>
          <a:p>
            <a:pPr indent="-2540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zh-TW" sz="4000"/>
              <a:t>如果病人覺得刺激不夠，該怎麼調整？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/>
              <a:t>第四題</a:t>
            </a:r>
            <a:endParaRPr/>
          </a:p>
        </p:txBody>
      </p:sp>
      <p:sp>
        <p:nvSpPr>
          <p:cNvPr id="245" name="Google Shape;245;p2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zh-TW"/>
              <a:t>40歲男性，工作需要常搬重物。主訴下背痛已持續2個月，且有下肢痠麻感及放射性疼痛，無排便排尿障礙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‒"/>
            </a:pPr>
            <a:r>
              <a:rPr lang="zh-TW"/>
              <a:t>理學檢查無肌力下降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‒"/>
            </a:pPr>
            <a:r>
              <a:rPr lang="zh-TW"/>
              <a:t>右腳SLRT：40度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‒"/>
            </a:pPr>
            <a:r>
              <a:rPr lang="zh-TW"/>
              <a:t>Slump test：positive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‒"/>
            </a:pPr>
            <a:r>
              <a:rPr lang="zh-TW"/>
              <a:t>X光：L4-L5 disc space 變窄、有骨刺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oogle Shape;1144;p134" id="250" name="Google Shape;25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16371" y="3381011"/>
            <a:ext cx="7214822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/>
              <a:t>Q1</a:t>
            </a:r>
            <a:endParaRPr/>
          </a:p>
        </p:txBody>
      </p:sp>
      <p:sp>
        <p:nvSpPr>
          <p:cNvPr id="252" name="Google Shape;252;p2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zh-TW" sz="4000"/>
              <a:t>可能的診斷是什麼？</a:t>
            </a:r>
            <a:endParaRPr sz="4000"/>
          </a:p>
          <a:p>
            <a:pPr indent="-2540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zh-TW" sz="4000"/>
              <a:t>這是什麼機器？</a:t>
            </a:r>
            <a:endParaRPr sz="4000"/>
          </a:p>
          <a:p>
            <a:pPr indent="-2540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zh-TW" sz="4000"/>
              <a:t>可以用來治療這位病人嗎？</a:t>
            </a:r>
            <a:endParaRPr sz="40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/>
              <a:t>Q2</a:t>
            </a:r>
            <a:endParaRPr/>
          </a:p>
        </p:txBody>
      </p:sp>
      <p:sp>
        <p:nvSpPr>
          <p:cNvPr id="258" name="Google Shape;258;p2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zh-TW" sz="4000"/>
              <a:t>腰椎牽引的適應症？</a:t>
            </a:r>
            <a:endParaRPr sz="4000"/>
          </a:p>
          <a:p>
            <a:pPr indent="-2540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zh-TW" sz="4000"/>
              <a:t>腰椎牽引的禁忌症？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/>
              <a:t>Q3</a:t>
            </a:r>
            <a:endParaRPr/>
          </a:p>
        </p:txBody>
      </p:sp>
      <p:sp>
        <p:nvSpPr>
          <p:cNvPr id="264" name="Google Shape;264;p2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zh-TW" sz="4000"/>
              <a:t>握把式和綁帶式分別要怎麼操作？</a:t>
            </a:r>
            <a:endParaRPr sz="4000"/>
          </a:p>
          <a:p>
            <a:pPr indent="-2540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zh-TW" sz="4000"/>
              <a:t>Pelvic belt要怎麼繞？</a:t>
            </a:r>
            <a:endParaRPr sz="4000"/>
          </a:p>
          <a:p>
            <a:pPr indent="-2540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zh-TW" sz="4000"/>
              <a:t>髖曲的角度有什麼影響？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/>
              <a:t>Q4</a:t>
            </a:r>
            <a:endParaRPr/>
          </a:p>
        </p:txBody>
      </p:sp>
      <p:sp>
        <p:nvSpPr>
          <p:cNvPr id="270" name="Google Shape;270;p3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zh-TW" sz="4000"/>
              <a:t>假設病人80公斤，起始重量要怎麼設定？</a:t>
            </a:r>
            <a:endParaRPr sz="4000"/>
          </a:p>
          <a:p>
            <a:pPr indent="-2540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zh-TW" sz="4000"/>
              <a:t>重量要怎麼遞增？最多能到多少？</a:t>
            </a:r>
            <a:endParaRPr sz="4000"/>
          </a:p>
          <a:p>
            <a:pPr indent="-2540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zh-TW" sz="4000"/>
              <a:t>如果病人一陣子沒拉，回來想繼續做怎麼辦？</a:t>
            </a:r>
            <a:endParaRPr sz="40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/>
              <a:t>Q5</a:t>
            </a:r>
            <a:endParaRPr/>
          </a:p>
        </p:txBody>
      </p:sp>
      <p:sp>
        <p:nvSpPr>
          <p:cNvPr id="276" name="Google Shape;276;p3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zh-TW" sz="4000"/>
              <a:t>不同的姿勢（Supine/ Prone/ Side Lying）有什麼差異？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/>
              <a:t>Q6</a:t>
            </a:r>
            <a:endParaRPr/>
          </a:p>
        </p:txBody>
      </p:sp>
      <p:sp>
        <p:nvSpPr>
          <p:cNvPr id="282" name="Google Shape;282;p3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zh-TW" sz="4000"/>
              <a:t>病人抱怨 traction後，隔天更不舒服，你要考慮什麼事？</a:t>
            </a:r>
            <a:endParaRPr sz="4000"/>
          </a:p>
          <a:p>
            <a:pPr indent="-2540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zh-TW" sz="4000"/>
              <a:t>如果traction當下更痛要怎麼處理？</a:t>
            </a:r>
            <a:endParaRPr sz="4000"/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t/>
            </a:r>
            <a:endParaRPr sz="40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/>
              <a:t>Q7</a:t>
            </a:r>
            <a:endParaRPr/>
          </a:p>
        </p:txBody>
      </p:sp>
      <p:sp>
        <p:nvSpPr>
          <p:cNvPr id="288" name="Google Shape;288;p3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zh-TW" sz="4000"/>
              <a:t>還有什麼注意事項？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2026-03-26T07:49:52Z</dcterms:created>
  <dc:creator>騏任 李</dc:creator>
</cp:coreProperties>
</file>