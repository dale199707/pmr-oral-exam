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9" roundtripDataSignature="AMtx7mirrWEh5OErOZvI8fA3l8+nigOf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" name="Google Shape;7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0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0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1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1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7" name="Google Shape;107;p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1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1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1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1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1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1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p1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1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p1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p1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p1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1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p1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1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1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" name="Google Shape;252;p1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p1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p1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8" name="Google Shape;268;p1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9" name="Google Shape;279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5" name="Google Shape;285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4" name="Google Shape;314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9" name="Google Shape;319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9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9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9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9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9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9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0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0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0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0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0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0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0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0" name="Google Shape;50;p10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1" name="Google Shape;51;p10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10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0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10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10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9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9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9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9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jpg"/><Relationship Id="rId4" Type="http://schemas.openxmlformats.org/officeDocument/2006/relationships/image" Target="../media/image6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jpg"/><Relationship Id="rId4" Type="http://schemas.openxmlformats.org/officeDocument/2006/relationships/image" Target="../media/image1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/>
              <a:t>Ortho 口試練習題</a:t>
            </a:r>
            <a:endParaRPr/>
          </a:p>
        </p:txBody>
      </p:sp>
      <p:sp>
        <p:nvSpPr>
          <p:cNvPr id="78" name="Google Shape;78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2026.04.13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/>
              <a:t>題目一</a:t>
            </a:r>
            <a:endParaRPr/>
          </a:p>
        </p:txBody>
      </p:sp>
      <p:sp>
        <p:nvSpPr>
          <p:cNvPr id="84" name="Google Shape;84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05"/>
          <p:cNvSpPr txBox="1"/>
          <p:nvPr>
            <p:ph type="ctrTitle"/>
          </p:nvPr>
        </p:nvSpPr>
        <p:spPr>
          <a:xfrm>
            <a:off x="753291" y="1199084"/>
            <a:ext cx="10685418" cy="44598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000"/>
              <a:t>64歲女性</a:t>
            </a:r>
            <a:br>
              <a:rPr lang="en-US" sz="4000"/>
            </a:br>
            <a:br>
              <a:rPr lang="en-US" sz="4000"/>
            </a:br>
            <a:r>
              <a:rPr lang="en-US" sz="3600"/>
              <a:t>一日下午公園遛狗，結果狗狗暴衝，將她拉倒在地右手著地。當下感覺有錯位又復位</a:t>
            </a:r>
            <a:br>
              <a:rPr lang="en-US" sz="3600"/>
            </a:br>
            <a:r>
              <a:rPr lang="en-US" sz="3600"/>
              <a:t>那天之後開始覺得右手無力，右側肩膀前側疼痛</a:t>
            </a:r>
            <a:br>
              <a:rPr lang="en-US" sz="3600"/>
            </a:br>
            <a:r>
              <a:rPr lang="en-US" sz="3600"/>
              <a:t>前來就醫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06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/>
              <a:t>Q1-1. 請列舉五個肩部疼痛鑑別診斷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07"/>
          <p:cNvSpPr txBox="1"/>
          <p:nvPr>
            <p:ph type="ctrTitle"/>
          </p:nvPr>
        </p:nvSpPr>
        <p:spPr>
          <a:xfrm>
            <a:off x="1259304" y="2024731"/>
            <a:ext cx="10050379" cy="30886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sz="4400"/>
              <a:t>Q1-2.</a:t>
            </a:r>
            <a:r>
              <a:rPr lang="en-US" sz="4400">
                <a:latin typeface="Microsoft JhengHei"/>
                <a:ea typeface="Microsoft JhengHei"/>
                <a:cs typeface="Microsoft JhengHei"/>
                <a:sym typeface="Microsoft JhengHei"/>
              </a:rPr>
              <a:t>請先說明肩膀疼痛的完整理學檢查，再針對此病患選擇適合的</a:t>
            </a:r>
            <a:br>
              <a:rPr lang="en-US" sz="4400"/>
            </a:br>
            <a:br>
              <a:rPr lang="en-US" sz="4400"/>
            </a:br>
            <a:r>
              <a:rPr lang="en-US" sz="4400"/>
              <a:t>請說明如何執行 O’brien test 以及 Biceps load II test</a:t>
            </a:r>
            <a:endParaRPr sz="4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8"/>
          <p:cNvSpPr txBox="1"/>
          <p:nvPr>
            <p:ph type="ctrTitle"/>
          </p:nvPr>
        </p:nvSpPr>
        <p:spPr>
          <a:xfrm>
            <a:off x="553454" y="1735579"/>
            <a:ext cx="1093670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Arial"/>
              <a:buNone/>
            </a:pPr>
            <a:r>
              <a:rPr lang="en-US" sz="4400"/>
              <a:t>Q1-3. </a:t>
            </a:r>
            <a:br>
              <a:rPr lang="en-US" sz="4400"/>
            </a:br>
            <a:br>
              <a:rPr lang="en-US" sz="4400"/>
            </a:br>
            <a:r>
              <a:rPr lang="en-US" sz="4400"/>
              <a:t>病人 O’brien test (+)；Bicep Load II test (+)</a:t>
            </a:r>
            <a:br>
              <a:rPr lang="en-US" sz="4400"/>
            </a:br>
            <a:r>
              <a:rPr lang="en-US" sz="4400"/>
              <a:t>Anterior apprenhesion test : 會疼痛、感覺不穩</a:t>
            </a:r>
            <a:br>
              <a:rPr lang="en-US" sz="4400"/>
            </a:br>
            <a:br>
              <a:rPr lang="en-US" sz="4400"/>
            </a:br>
            <a:r>
              <a:rPr lang="en-US" sz="4400"/>
              <a:t>你幫他安排了肩膀的X光檢查，請判讀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206" y="1455371"/>
            <a:ext cx="4944956" cy="44975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xillary view" id="110" name="Google Shape;110;p10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9820" y="1387994"/>
            <a:ext cx="5463194" cy="4647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0"/>
          <p:cNvSpPr txBox="1"/>
          <p:nvPr>
            <p:ph type="ctrTitle"/>
          </p:nvPr>
        </p:nvSpPr>
        <p:spPr>
          <a:xfrm>
            <a:off x="1524000" y="1122363"/>
            <a:ext cx="9371798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/>
              <a:t>Q1-4. 以下為此病人shoulder MR arthrogram 影像，請問是否有問題？</a:t>
            </a:r>
            <a:endParaRPr/>
          </a:p>
        </p:txBody>
      </p:sp>
      <p:sp>
        <p:nvSpPr>
          <p:cNvPr id="116" name="Google Shape;116;p1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11"/>
          <p:cNvSpPr txBox="1"/>
          <p:nvPr>
            <p:ph type="title"/>
          </p:nvPr>
        </p:nvSpPr>
        <p:spPr>
          <a:xfrm>
            <a:off x="461211" y="12375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T1 Fat Sat with contrast </a:t>
            </a:r>
            <a:endParaRPr/>
          </a:p>
        </p:txBody>
      </p:sp>
      <p:pic>
        <p:nvPicPr>
          <p:cNvPr id="123" name="Google Shape;123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6451" y="1253830"/>
            <a:ext cx="5374338" cy="5480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9731" y="1273720"/>
            <a:ext cx="5774418" cy="54605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2"/>
          <p:cNvSpPr txBox="1"/>
          <p:nvPr>
            <p:ph type="ctrTitle"/>
          </p:nvPr>
        </p:nvSpPr>
        <p:spPr>
          <a:xfrm>
            <a:off x="625642" y="1728535"/>
            <a:ext cx="10940716" cy="27632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/>
              <a:t>Q1-5. 病人詢問以他的受傷型態</a:t>
            </a:r>
            <a:br>
              <a:rPr lang="en-US" sz="4400"/>
            </a:br>
            <a:r>
              <a:rPr lang="en-US" sz="4400"/>
              <a:t>會如何手術方式?</a:t>
            </a:r>
            <a:br>
              <a:rPr lang="en-US" sz="4400"/>
            </a:br>
            <a:br>
              <a:rPr lang="en-US" sz="4400"/>
            </a:br>
            <a:r>
              <a:rPr lang="en-US" sz="4400"/>
              <a:t>如果她不想手術，可以如何保守治療?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3"/>
          <p:cNvSpPr txBox="1"/>
          <p:nvPr>
            <p:ph type="ctrTitle"/>
          </p:nvPr>
        </p:nvSpPr>
        <p:spPr>
          <a:xfrm>
            <a:off x="173254" y="1872914"/>
            <a:ext cx="12018746" cy="27632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/>
              <a:t>Q1-6. 保守治療後，還是持續疼痛以及不穩定</a:t>
            </a:r>
            <a:br>
              <a:rPr lang="en-US" sz="4400"/>
            </a:br>
            <a:r>
              <a:rPr lang="en-US" sz="4400"/>
              <a:t>病人接受手術治療後</a:t>
            </a:r>
            <a:br>
              <a:rPr lang="en-US" sz="4400"/>
            </a:br>
            <a:r>
              <a:rPr lang="en-US" sz="4400"/>
              <a:t>請針對術後復健，為病人設計復健計畫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/>
              <a:t>題目二</a:t>
            </a:r>
            <a:endParaRPr/>
          </a:p>
        </p:txBody>
      </p:sp>
      <p:sp>
        <p:nvSpPr>
          <p:cNvPr id="140" name="Google Shape;140;p2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"/>
          <p:cNvSpPr txBox="1"/>
          <p:nvPr>
            <p:ph type="ctrTitle"/>
          </p:nvPr>
        </p:nvSpPr>
        <p:spPr>
          <a:xfrm>
            <a:off x="1379621" y="2235200"/>
            <a:ext cx="958355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Arial"/>
              <a:buNone/>
            </a:pPr>
            <a:r>
              <a:rPr lang="en-US" sz="4400"/>
              <a:t>60歲男性，BMI 40</a:t>
            </a:r>
            <a:br>
              <a:rPr lang="en-US" sz="4400"/>
            </a:br>
            <a:r>
              <a:rPr lang="en-US" sz="4400"/>
              <a:t>平時工作需久站，時常有膝蓋疼痛與腫脹</a:t>
            </a:r>
            <a:br>
              <a:rPr lang="en-US" sz="4400"/>
            </a:br>
            <a:r>
              <a:rPr lang="en-US" sz="4400"/>
              <a:t>前陣子有跌倒撞到左膝</a:t>
            </a:r>
            <a:br>
              <a:rPr lang="en-US" sz="4400"/>
            </a:br>
            <a:r>
              <a:rPr lang="en-US" sz="4400"/>
              <a:t>最近久站後開始有軟腳且走路有卡頓感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/>
              <a:t>Q2-1. 請列舉五個膝蓋疼痛鑑別診斷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"/>
          <p:cNvSpPr txBox="1"/>
          <p:nvPr>
            <p:ph type="ctrTitle"/>
          </p:nvPr>
        </p:nvSpPr>
        <p:spPr>
          <a:xfrm>
            <a:off x="930442" y="1600200"/>
            <a:ext cx="10331116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Arial"/>
              <a:buNone/>
            </a:pPr>
            <a:r>
              <a:rPr lang="en-US" sz="4400"/>
              <a:t>Q2-2.請問針對病人的問題</a:t>
            </a:r>
            <a:br>
              <a:rPr lang="en-US" sz="4400"/>
            </a:br>
            <a:r>
              <a:rPr lang="en-US" sz="4400"/>
              <a:t>你會幫病人做什麼PE？ </a:t>
            </a:r>
            <a:br>
              <a:rPr lang="en-US" sz="4400"/>
            </a:br>
            <a:br>
              <a:rPr lang="en-US" sz="4400"/>
            </a:br>
            <a:r>
              <a:rPr lang="en-US" sz="4400"/>
              <a:t>膝蓋的capsular pattern是什麼？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/>
          <p:nvPr>
            <p:ph type="ctrTitle"/>
          </p:nvPr>
        </p:nvSpPr>
        <p:spPr>
          <a:xfrm>
            <a:off x="890337" y="3429000"/>
            <a:ext cx="10411326" cy="33835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sz="4400"/>
              <a:t>Q2-3. </a:t>
            </a:r>
            <a:br>
              <a:rPr lang="en-US" sz="4400"/>
            </a:br>
            <a:r>
              <a:rPr lang="en-US" sz="4400"/>
              <a:t>病人左膝的 Mcmurray test (+)</a:t>
            </a:r>
            <a:br>
              <a:rPr lang="en-US" sz="4400"/>
            </a:br>
            <a:r>
              <a:rPr lang="en-US" sz="4400"/>
              <a:t>Thessaly test (+)</a:t>
            </a:r>
            <a:br>
              <a:rPr lang="en-US" sz="4400"/>
            </a:br>
            <a:br>
              <a:rPr lang="en-US" sz="4400"/>
            </a:br>
            <a:r>
              <a:rPr lang="en-US" sz="4400"/>
              <a:t>這是病人的 knee x ray</a:t>
            </a:r>
            <a:br>
              <a:rPr lang="en-US" sz="4400"/>
            </a:br>
            <a:r>
              <a:rPr lang="en-US" sz="4400"/>
              <a:t>請問病人為</a:t>
            </a:r>
            <a:r>
              <a:rPr b="1" lang="en-US" sz="4400">
                <a:latin typeface="Calibri"/>
                <a:ea typeface="Calibri"/>
                <a:cs typeface="Calibri"/>
                <a:sym typeface="Calibri"/>
              </a:rPr>
              <a:t>Kellgren-Lawrence grading  多少</a:t>
            </a:r>
            <a:br>
              <a:rPr b="1" lang="en-US" sz="4400"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4400">
                <a:latin typeface="Calibri"/>
                <a:ea typeface="Calibri"/>
                <a:cs typeface="Calibri"/>
                <a:sym typeface="Calibri"/>
              </a:rPr>
              <a:t>lateral knee x ray 的箭頭是什麼</a:t>
            </a:r>
            <a:r>
              <a:rPr lang="en-US" sz="4400"/>
              <a:t> </a:t>
            </a:r>
            <a:br>
              <a:rPr lang="en-US" sz="4400"/>
            </a:br>
            <a:br>
              <a:rPr lang="en-US" sz="4400"/>
            </a:b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66" name="Google Shape;166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029" y="9108"/>
            <a:ext cx="3599160" cy="6839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7959" y="9108"/>
            <a:ext cx="5580935" cy="6867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"/>
          <p:cNvSpPr txBox="1"/>
          <p:nvPr>
            <p:ph type="ctrTitle"/>
          </p:nvPr>
        </p:nvSpPr>
        <p:spPr>
          <a:xfrm>
            <a:off x="1524000" y="2235200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/>
              <a:t>Q2-4. 請判讀以下病人的Knee MRI</a:t>
            </a:r>
            <a:br>
              <a:rPr lang="en-US" sz="4400"/>
            </a:br>
            <a:endParaRPr sz="4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5"/>
          <p:cNvSpPr txBox="1"/>
          <p:nvPr>
            <p:ph type="title"/>
          </p:nvPr>
        </p:nvSpPr>
        <p:spPr>
          <a:xfrm>
            <a:off x="838200" y="120234"/>
            <a:ext cx="10515600" cy="74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PD fat sat</a:t>
            </a:r>
            <a:endParaRPr/>
          </a:p>
        </p:txBody>
      </p:sp>
      <p:pic>
        <p:nvPicPr>
          <p:cNvPr id="179" name="Google Shape;179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506" y="866273"/>
            <a:ext cx="5871494" cy="5871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2564" y="866273"/>
            <a:ext cx="5871494" cy="58714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T2</a:t>
            </a:r>
            <a:endParaRPr/>
          </a:p>
        </p:txBody>
      </p:sp>
      <p:pic>
        <p:nvPicPr>
          <p:cNvPr id="187" name="Google Shape;187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6178" y="481263"/>
            <a:ext cx="6376737" cy="6376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7"/>
          <p:cNvSpPr txBox="1"/>
          <p:nvPr>
            <p:ph type="ctrTitle"/>
          </p:nvPr>
        </p:nvSpPr>
        <p:spPr>
          <a:xfrm>
            <a:off x="1523999" y="1882758"/>
            <a:ext cx="9776059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/>
              <a:t>Q2-5. 針對病人的OA knee，病人拿著軟骨素詢問對於他的膝蓋痛有幫助嗎</a:t>
            </a:r>
            <a:br>
              <a:rPr lang="en-US" sz="4400"/>
            </a:br>
            <a:r>
              <a:rPr lang="en-US" sz="4400"/>
              <a:t>還有什麼保守治療與建議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7"/>
          <p:cNvSpPr txBox="1"/>
          <p:nvPr>
            <p:ph type="title"/>
          </p:nvPr>
        </p:nvSpPr>
        <p:spPr>
          <a:xfrm>
            <a:off x="994610" y="261503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455"/>
              <a:buNone/>
            </a:pPr>
            <a:r>
              <a:rPr lang="en-US"/>
              <a:t>Q2-6. 請問如何palpation guided 幫病人施打關節內玻尿酸，玻尿酸的健保給付規定為何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9"/>
          <p:cNvSpPr txBox="1"/>
          <p:nvPr>
            <p:ph type="ctrTitle"/>
          </p:nvPr>
        </p:nvSpPr>
        <p:spPr>
          <a:xfrm>
            <a:off x="481263" y="1122363"/>
            <a:ext cx="11550315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/>
              <a:t>Q2-7. 病人詢問他的半月板受損，建議手術嗎?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/>
              <a:t>題目三</a:t>
            </a:r>
            <a:endParaRPr/>
          </a:p>
        </p:txBody>
      </p:sp>
      <p:sp>
        <p:nvSpPr>
          <p:cNvPr id="209" name="Google Shape;209;p1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9"/>
          <p:cNvSpPr txBox="1"/>
          <p:nvPr>
            <p:ph type="ctrTitle"/>
          </p:nvPr>
        </p:nvSpPr>
        <p:spPr>
          <a:xfrm>
            <a:off x="1524000" y="3619099"/>
            <a:ext cx="9737558" cy="118468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Arial"/>
              <a:buNone/>
            </a:pPr>
            <a:r>
              <a:rPr lang="en-US" sz="4400"/>
              <a:t>26歲男性，沒有運動習慣，工作久坐</a:t>
            </a:r>
            <a:br>
              <a:rPr lang="en-US" sz="4400"/>
            </a:br>
            <a:r>
              <a:rPr lang="en-US" sz="4400"/>
              <a:t>主訴下背痛3-4個月，越來越嚴重</a:t>
            </a:r>
            <a:br>
              <a:rPr lang="en-US" sz="4400"/>
            </a:br>
            <a:r>
              <a:rPr lang="en-US" sz="4400"/>
              <a:t>偶爾會延伸到臀部後側</a:t>
            </a:r>
            <a:br>
              <a:rPr lang="en-US" sz="4400"/>
            </a:b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/>
              <a:t>Q3-1. 請列舉五個可能的鑑別診斷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1"/>
          <p:cNvSpPr txBox="1"/>
          <p:nvPr>
            <p:ph type="ctrTitle"/>
          </p:nvPr>
        </p:nvSpPr>
        <p:spPr>
          <a:xfrm>
            <a:off x="930442" y="1600200"/>
            <a:ext cx="10331116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/>
              <a:t>Q3-2.請問針對病人的問題</a:t>
            </a:r>
            <a:br>
              <a:rPr lang="en-US" sz="4400"/>
            </a:br>
            <a:r>
              <a:rPr lang="en-US" sz="4400"/>
              <a:t>你會幫病人做什麼PE？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2"/>
          <p:cNvSpPr txBox="1"/>
          <p:nvPr>
            <p:ph type="ctrTitle"/>
          </p:nvPr>
        </p:nvSpPr>
        <p:spPr>
          <a:xfrm>
            <a:off x="890337" y="2406316"/>
            <a:ext cx="10411326" cy="407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sz="4400"/>
              <a:t>Q3-3. </a:t>
            </a:r>
            <a:br>
              <a:rPr lang="en-US" sz="4400"/>
            </a:br>
            <a:r>
              <a:rPr lang="en-US" sz="4400"/>
              <a:t>病人 SLRT (-) ；Modified Schober test (+)</a:t>
            </a:r>
            <a:br>
              <a:rPr lang="en-US" sz="4400"/>
            </a:br>
            <a:r>
              <a:rPr lang="en-US" sz="4400"/>
              <a:t>Distraction test (+)；Faber test (+)</a:t>
            </a:r>
            <a:br>
              <a:rPr lang="en-US" sz="4400"/>
            </a:br>
            <a:br>
              <a:rPr lang="en-US" sz="4400"/>
            </a:br>
            <a:br>
              <a:rPr lang="en-US" sz="4400"/>
            </a:br>
            <a:r>
              <a:rPr lang="en-US" sz="4400"/>
              <a:t>這是病人的 X ray，請判讀</a:t>
            </a:r>
            <a:br>
              <a:rPr lang="en-US" sz="4400"/>
            </a:br>
            <a:r>
              <a:rPr b="1" lang="en-US" sz="4400">
                <a:latin typeface="Microsoft JhengHei"/>
                <a:ea typeface="Microsoft JhengHei"/>
                <a:cs typeface="Microsoft JhengHei"/>
                <a:sym typeface="Microsoft JhengHei"/>
              </a:rPr>
              <a:t>有哪些AS可能的影像特徵</a:t>
            </a:r>
            <a:br>
              <a:rPr lang="en-US" sz="4400"/>
            </a:br>
            <a:r>
              <a:rPr lang="en-US" sz="4400"/>
              <a:t>請問病人為 grading </a:t>
            </a:r>
            <a:r>
              <a:rPr b="1" lang="en-US" sz="4400">
                <a:latin typeface="Calibri"/>
                <a:ea typeface="Calibri"/>
                <a:cs typeface="Calibri"/>
                <a:sym typeface="Calibri"/>
              </a:rPr>
              <a:t>多少</a:t>
            </a:r>
            <a:br>
              <a:rPr b="1" lang="en-US" sz="4400"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4400">
                <a:latin typeface="Calibri"/>
                <a:ea typeface="Calibri"/>
                <a:cs typeface="Calibri"/>
                <a:sym typeface="Calibri"/>
              </a:rPr>
              <a:t>請問病人有符合診斷標準嗎</a:t>
            </a:r>
            <a:br>
              <a:rPr b="1" lang="en-US" sz="4400"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1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2176" y="0"/>
            <a:ext cx="275272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82812" y="0"/>
            <a:ext cx="40259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Pelvic x ray</a:t>
            </a:r>
            <a:endParaRPr/>
          </a:p>
        </p:txBody>
      </p:sp>
      <p:pic>
        <p:nvPicPr>
          <p:cNvPr id="243" name="Google Shape;243;p1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47146" y="1117712"/>
            <a:ext cx="7615338" cy="5740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5"/>
          <p:cNvSpPr txBox="1"/>
          <p:nvPr>
            <p:ph type="ctrTitle"/>
          </p:nvPr>
        </p:nvSpPr>
        <p:spPr>
          <a:xfrm>
            <a:off x="890337" y="1905802"/>
            <a:ext cx="10411326" cy="33835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4400"/>
              <a:t>Q3-4. 這是病人的 Spinal MRI 影像，請判讀，還有哪些AS可能的finding</a:t>
            </a:r>
            <a:br>
              <a:rPr b="1" lang="en-US" sz="4400"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1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9936" y="509034"/>
            <a:ext cx="4093092" cy="60026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kylosing spondylitis - Andersson lesion | Radiology Case | Radiopaedia.org" id="255" name="Google Shape;255;p1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1876" y="509034"/>
            <a:ext cx="3607017" cy="58399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7"/>
          <p:cNvSpPr txBox="1"/>
          <p:nvPr>
            <p:ph type="ctrTitle"/>
          </p:nvPr>
        </p:nvSpPr>
        <p:spPr>
          <a:xfrm>
            <a:off x="606392" y="1905802"/>
            <a:ext cx="10695271" cy="33835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4400"/>
              <a:t>Q3-5. 病人診斷為AS</a:t>
            </a:r>
            <a:br>
              <a:rPr lang="en-US" sz="4400"/>
            </a:br>
            <a:r>
              <a:rPr lang="en-US" sz="4400"/>
              <a:t>請問如何給予藥物治療以及復健治療</a:t>
            </a:r>
            <a:br>
              <a:rPr b="1" lang="en-US" sz="4400"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28"/>
          <p:cNvSpPr txBox="1"/>
          <p:nvPr>
            <p:ph type="ctrTitle"/>
          </p:nvPr>
        </p:nvSpPr>
        <p:spPr>
          <a:xfrm>
            <a:off x="890337" y="1905802"/>
            <a:ext cx="10411326" cy="33835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4400"/>
              <a:t>Q3-6. 病人想詢問是否能夠不用當兵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2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/>
              <a:t>題目四</a:t>
            </a:r>
            <a:endParaRPr/>
          </a:p>
        </p:txBody>
      </p:sp>
      <p:sp>
        <p:nvSpPr>
          <p:cNvPr id="271" name="Google Shape;271;p12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61"/>
          <p:cNvSpPr txBox="1"/>
          <p:nvPr>
            <p:ph type="ctrTitle"/>
          </p:nvPr>
        </p:nvSpPr>
        <p:spPr>
          <a:xfrm>
            <a:off x="1524000" y="1122363"/>
            <a:ext cx="9144000" cy="44963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/>
              <a:t>45歲男性，主訴脖子痛多年</a:t>
            </a:r>
            <a:br>
              <a:rPr lang="en-US" sz="4400"/>
            </a:br>
            <a:r>
              <a:rPr lang="en-US" sz="4400"/>
              <a:t>合併輕微手麻</a:t>
            </a:r>
            <a:br>
              <a:rPr lang="en-US" sz="4400"/>
            </a:br>
            <a:br>
              <a:rPr lang="en-US" sz="4400"/>
            </a:br>
            <a:r>
              <a:rPr lang="en-US" sz="4400"/>
              <a:t>近期開始寫字凌亂、稍微不好扣鈕扣</a:t>
            </a:r>
            <a:br>
              <a:rPr lang="en-US" sz="4400"/>
            </a:br>
            <a:r>
              <a:rPr lang="en-US" sz="4400"/>
              <a:t>走路步態正常、大小便正常</a:t>
            </a:r>
            <a:br>
              <a:rPr lang="en-US" sz="4400"/>
            </a:b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6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/>
              <a:t>Q4-1. 請列舉五個脖子痛鑑別診斷</a:t>
            </a:r>
            <a:endParaRPr/>
          </a:p>
        </p:txBody>
      </p:sp>
      <p:sp>
        <p:nvSpPr>
          <p:cNvPr id="282" name="Google Shape;282;p6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6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/>
              <a:t>Q4-2. 請問你會幫病人做什麼PE</a:t>
            </a:r>
            <a:endParaRPr sz="4400"/>
          </a:p>
        </p:txBody>
      </p:sp>
      <p:sp>
        <p:nvSpPr>
          <p:cNvPr id="288" name="Google Shape;288;p6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7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/>
              <a:t>Q4-3. 初步安排了X光檢查，請判讀並說明是否需要安排後續的影像檢查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4544" y="182562"/>
            <a:ext cx="6502911" cy="6492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7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/>
              <a:t>Q4-4. 後續安排電腦斷層，請判讀影像並給出可能診斷</a:t>
            </a:r>
            <a:endParaRPr/>
          </a:p>
        </p:txBody>
      </p:sp>
      <p:sp>
        <p:nvSpPr>
          <p:cNvPr id="304" name="Google Shape;304;p7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7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10" name="Google Shape;310;p7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11" name="Google Shape;311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9284" y="80210"/>
            <a:ext cx="7393431" cy="66975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78"/>
          <p:cNvSpPr txBox="1"/>
          <p:nvPr>
            <p:ph type="ctrTitle"/>
          </p:nvPr>
        </p:nvSpPr>
        <p:spPr>
          <a:xfrm>
            <a:off x="1203157" y="1214438"/>
            <a:ext cx="10173903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/>
              <a:t>Q4-5. 請問OPLL和DISH的差別在哪裡？ 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8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/>
              <a:t>Q4-6. 請問病人目前的狀況</a:t>
            </a:r>
            <a:br>
              <a:rPr lang="en-US" sz="4400"/>
            </a:br>
            <a:r>
              <a:rPr lang="en-US" sz="4400"/>
              <a:t>建議保守治療或是手術治療</a:t>
            </a:r>
            <a:br>
              <a:rPr lang="en-US" sz="4400"/>
            </a:br>
            <a:r>
              <a:rPr lang="en-US" sz="4400"/>
              <a:t>何時會建議轉介手術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2025-04-06T03:29:42Z</dcterms:created>
  <dc:creator>信德 林</dc:creator>
</cp:coreProperties>
</file>