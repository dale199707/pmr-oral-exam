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26"/>
  </p:notesMasterIdLst>
  <p:sldIdLst>
    <p:sldId id="258" r:id="rId2"/>
    <p:sldId id="748" r:id="rId3"/>
    <p:sldId id="640" r:id="rId4"/>
    <p:sldId id="746" r:id="rId5"/>
    <p:sldId id="747" r:id="rId6"/>
    <p:sldId id="711" r:id="rId7"/>
    <p:sldId id="698" r:id="rId8"/>
    <p:sldId id="697" r:id="rId9"/>
    <p:sldId id="628" r:id="rId10"/>
    <p:sldId id="431" r:id="rId11"/>
    <p:sldId id="641" r:id="rId12"/>
    <p:sldId id="642" r:id="rId13"/>
    <p:sldId id="644" r:id="rId14"/>
    <p:sldId id="645" r:id="rId15"/>
    <p:sldId id="646" r:id="rId16"/>
    <p:sldId id="660" r:id="rId17"/>
    <p:sldId id="661" r:id="rId18"/>
    <p:sldId id="587" r:id="rId19"/>
    <p:sldId id="588" r:id="rId20"/>
    <p:sldId id="717" r:id="rId21"/>
    <p:sldId id="751" r:id="rId22"/>
    <p:sldId id="589" r:id="rId23"/>
    <p:sldId id="718" r:id="rId24"/>
    <p:sldId id="590" r:id="rId25"/>
  </p:sldIdLst>
  <p:sldSz cx="12192000" cy="6858000"/>
  <p:notesSz cx="6858000" cy="9144000"/>
  <p:embeddedFontLst>
    <p:embeddedFont>
      <p:font typeface="Noto Sans Symbols" panose="02020500000000000000" charset="-120"/>
      <p:regular r:id="rId27"/>
      <p:bold r:id="rId28"/>
    </p:embeddedFont>
    <p:embeddedFont>
      <p:font typeface="Abadi" panose="020F0502020204030204" pitchFamily="34" charset="0"/>
      <p:regular r:id="rId29"/>
    </p:embeddedFont>
    <p:embeddedFont>
      <p:font typeface="微軟正黑體" panose="020B0604030504040204" pitchFamily="34" charset="-120"/>
      <p:regular r:id="rId30"/>
      <p:bold r:id="rId31"/>
    </p:embeddedFont>
    <p:embeddedFont>
      <p:font typeface="標楷體" panose="03000509000000000000" pitchFamily="65" charset="-120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預設章節" id="{5204CFDF-DE75-4885-B210-2AE3C66B6CA2}">
          <p14:sldIdLst>
            <p14:sldId id="258"/>
            <p14:sldId id="748"/>
            <p14:sldId id="640"/>
            <p14:sldId id="746"/>
            <p14:sldId id="747"/>
            <p14:sldId id="711"/>
            <p14:sldId id="698"/>
            <p14:sldId id="697"/>
            <p14:sldId id="628"/>
            <p14:sldId id="431"/>
            <p14:sldId id="641"/>
            <p14:sldId id="642"/>
            <p14:sldId id="644"/>
            <p14:sldId id="645"/>
            <p14:sldId id="646"/>
            <p14:sldId id="660"/>
            <p14:sldId id="661"/>
            <p14:sldId id="587"/>
            <p14:sldId id="588"/>
            <p14:sldId id="717"/>
            <p14:sldId id="751"/>
            <p14:sldId id="589"/>
            <p14:sldId id="718"/>
            <p14:sldId id="5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3" roundtripDataSignature="AMtx7mjpyNGMnJz2Cv9eJpsNr8Gv8chU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EE8EA"/>
    <a:srgbClr val="FCEBE0"/>
    <a:srgbClr val="F4B183"/>
    <a:srgbClr val="FFD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44D1CA-450F-1FEF-DDBC-7A702696EBC3}" v="29" dt="2025-03-03T14:13:42.801"/>
  </p1510:revLst>
</p1510:revInfo>
</file>

<file path=ppt/tableStyles.xml><?xml version="1.0" encoding="utf-8"?>
<a:tblStyleLst xmlns:a="http://schemas.openxmlformats.org/drawingml/2006/main" def="{68803E5C-0690-45D1-8448-BA63719BD152}">
  <a:tblStyle styleId="{68803E5C-0690-45D1-8448-BA63719BD15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316E3CC-58E0-49C7-8764-B103DD9A750E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FD5CAA0-0B86-4D45-96EC-73F8E0BEF27F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0CE79DC-6DBF-47CE-9F88-DE05F4DE013B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46F890A9-2807-4EBB-B81D-B2AA78EC7F39}" styleName="深色樣式 2 - 輔色 5/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10" autoAdjust="0"/>
    <p:restoredTop sz="88339" autoAdjust="0"/>
  </p:normalViewPr>
  <p:slideViewPr>
    <p:cSldViewPr snapToGrid="0">
      <p:cViewPr varScale="1">
        <p:scale>
          <a:sx n="76" d="100"/>
          <a:sy n="76" d="100"/>
        </p:scale>
        <p:origin x="1242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6363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8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38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8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38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88" Type="http://schemas.microsoft.com/office/2015/10/relationships/revisionInfo" Target="revisionInfo.xml"/><Relationship Id="rId8" Type="http://schemas.openxmlformats.org/officeDocument/2006/relationships/slide" Target="slides/slide7.xml"/><Relationship Id="rId383" Type="http://customschemas.google.com/relationships/presentationmetadata" Target="meta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zh-TW" altLang="en-U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zh-TW" altLang="en-US"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zh-TW" altLang="en-US"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algn="r">
              <a:buSzPts val="1200"/>
            </a:pPr>
            <a:fld id="{00000000-1234-1234-1234-123412341234}" type="slidenum">
              <a:rPr lang="en-US" altLang="zh-TW" sz="1200" smtClean="0">
                <a:solidFill>
                  <a:schemeClr val="dk1"/>
                </a:solidFill>
                <a:cs typeface="Calibri"/>
                <a:sym typeface="Calibri"/>
              </a:rPr>
              <a:pPr algn="r">
                <a:buSzPts val="1200"/>
              </a:pPr>
              <a:t>‹#›</a:t>
            </a:fld>
            <a:endParaRPr lang="zh-TW" altLang="en-US" sz="1200" dirty="0">
              <a:solidFill>
                <a:schemeClr val="dk1"/>
              </a:solidFill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014586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標楷體" panose="03000509000000000000" pitchFamily="65" charset="-120"/>
        <a:ea typeface="標楷體" panose="03000509000000000000" pitchFamily="65" charset="-120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9" name="Google Shape;18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zh-TW">
                <a:cs typeface="Calibri" panose="020F0502020204030204" pitchFamily="34" charset="0"/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</a:t>
            </a:fld>
            <a:endParaRPr dirty="0">
              <a:cs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6" name="Google Shape;39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8161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2E210-7823-B745-9E3F-AD3A88127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F5948D5-A594-D7F6-A3A2-B7B134ABD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22EFC29-2275-6C83-3E3C-33FF47E82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50295D-B0FA-F7C4-C8A6-38A37A853D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altLang="zh-TW" sz="1200" smtClean="0">
                <a:solidFill>
                  <a:schemeClr val="dk1"/>
                </a:solidFill>
                <a:cs typeface="Calibri"/>
                <a:sym typeface="Calibri"/>
              </a:rPr>
              <a:pPr algn="r">
                <a:buSzPts val="1200"/>
              </a:pPr>
              <a:t>3</a:t>
            </a:fld>
            <a:endParaRPr lang="zh-TW" altLang="en-US" sz="1200" dirty="0">
              <a:solidFill>
                <a:schemeClr val="dk1"/>
              </a:solidFill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2056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2E210-7823-B745-9E3F-AD3A88127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F5948D5-A594-D7F6-A3A2-B7B134ABD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22EFC29-2275-6C83-3E3C-33FF47E82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50295D-B0FA-F7C4-C8A6-38A37A853D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altLang="zh-TW" sz="1200" smtClean="0">
                <a:solidFill>
                  <a:schemeClr val="dk1"/>
                </a:solidFill>
                <a:cs typeface="Calibri"/>
                <a:sym typeface="Calibri"/>
              </a:rPr>
              <a:pPr algn="r">
                <a:buSzPts val="1200"/>
              </a:pPr>
              <a:t>4</a:t>
            </a:fld>
            <a:endParaRPr lang="zh-TW" altLang="en-US" sz="1200" dirty="0">
              <a:solidFill>
                <a:schemeClr val="dk1"/>
              </a:solidFill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7190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2E210-7823-B745-9E3F-AD3A88127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F5948D5-A594-D7F6-A3A2-B7B134ABD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22EFC29-2275-6C83-3E3C-33FF47E82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50295D-B0FA-F7C4-C8A6-38A37A853D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altLang="zh-TW" sz="1200" smtClean="0">
                <a:solidFill>
                  <a:schemeClr val="dk1"/>
                </a:solidFill>
                <a:cs typeface="Calibri"/>
                <a:sym typeface="Calibri"/>
              </a:rPr>
              <a:pPr algn="r">
                <a:buSzPts val="1200"/>
              </a:pPr>
              <a:t>5</a:t>
            </a:fld>
            <a:endParaRPr lang="zh-TW" altLang="en-US" sz="1200" dirty="0">
              <a:solidFill>
                <a:schemeClr val="dk1"/>
              </a:solidFill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949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2E210-7823-B745-9E3F-AD3A88127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F5948D5-A594-D7F6-A3A2-B7B134ABD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22EFC29-2275-6C83-3E3C-33FF47E82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50295D-B0FA-F7C4-C8A6-38A37A853D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altLang="zh-TW" sz="1200" smtClean="0">
                <a:solidFill>
                  <a:schemeClr val="dk1"/>
                </a:solidFill>
                <a:cs typeface="Calibri"/>
                <a:sym typeface="Calibri"/>
              </a:rPr>
              <a:pPr algn="r">
                <a:buSzPts val="1200"/>
              </a:pPr>
              <a:t>6</a:t>
            </a:fld>
            <a:endParaRPr lang="zh-TW" altLang="en-US" sz="1200" dirty="0">
              <a:solidFill>
                <a:schemeClr val="dk1"/>
              </a:solidFill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2056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518E0-767B-8B26-258E-E846F3440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11C992-E65D-71E7-0F3F-F5A158489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5BA8BC5-2872-3B6C-4DD4-6DF4F9CB5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514B37-91BB-D7C2-0C9E-30A6CD3349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altLang="zh-TW" sz="1200" smtClean="0">
                <a:solidFill>
                  <a:schemeClr val="dk1"/>
                </a:solidFill>
                <a:cs typeface="Calibri"/>
                <a:sym typeface="Calibri"/>
              </a:rPr>
              <a:pPr algn="r">
                <a:buSzPts val="1200"/>
              </a:pPr>
              <a:t>7</a:t>
            </a:fld>
            <a:endParaRPr lang="zh-TW" altLang="en-US" sz="1200" dirty="0">
              <a:solidFill>
                <a:schemeClr val="dk1"/>
              </a:solidFill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1703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89C65-EE92-C8D1-4469-516142DA4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CE6B4CE-DB68-C49D-AED8-97638CD9F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89E72C-1580-2F28-B8E4-095353F98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478C12-C98D-6B25-8821-D43F84B4B1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altLang="zh-TW" sz="1200" smtClean="0">
                <a:solidFill>
                  <a:schemeClr val="dk1"/>
                </a:solidFill>
                <a:cs typeface="Calibri"/>
                <a:sym typeface="Calibri"/>
              </a:rPr>
              <a:pPr algn="r">
                <a:buSzPts val="1200"/>
              </a:pPr>
              <a:t>8</a:t>
            </a:fld>
            <a:endParaRPr lang="zh-TW" altLang="en-US" sz="1200" dirty="0">
              <a:solidFill>
                <a:schemeClr val="dk1"/>
              </a:solidFill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4776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99341-96F0-6C7E-C93F-43055EFD3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5440AAE-756D-B2AA-202A-3E363FEF6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FA40820-E5B0-7A63-E6D7-2310A5E1F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/>
              <a:t>Developmental regression: </a:t>
            </a:r>
            <a:r>
              <a:rPr lang="zh-TW" altLang="en-US" dirty="0"/>
              <a:t>在發展階段中退化，</a:t>
            </a:r>
            <a:r>
              <a:rPr lang="en-US" altLang="zh-TW" dirty="0" err="1"/>
              <a:t>e.g</a:t>
            </a:r>
            <a:r>
              <a:rPr lang="zh-TW" altLang="en-US" dirty="0"/>
              <a:t>本來會說話，但不知從何時開始不會說話，也有可能當初的爸媽不是有意義的叫爸媽，若發現有退步要做進一步檢查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40FC97-832D-E1E9-6688-79172C891C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altLang="zh-TW" sz="1200" smtClean="0">
                <a:solidFill>
                  <a:schemeClr val="dk1"/>
                </a:solidFill>
                <a:cs typeface="Calibri"/>
                <a:sym typeface="Calibri"/>
              </a:rPr>
              <a:pPr algn="r">
                <a:buSzPts val="1200"/>
              </a:pPr>
              <a:t>9</a:t>
            </a:fld>
            <a:endParaRPr lang="zh-TW" altLang="en-US" sz="1200" dirty="0">
              <a:solidFill>
                <a:schemeClr val="dk1"/>
              </a:solidFill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7810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>
          <a:extLst>
            <a:ext uri="{FF2B5EF4-FFF2-40B4-BE49-F238E27FC236}">
              <a16:creationId xmlns:a16="http://schemas.microsoft.com/office/drawing/2014/main" id="{544FD52D-2D05-5758-3388-8F941927A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211:notes">
            <a:extLst>
              <a:ext uri="{FF2B5EF4-FFF2-40B4-BE49-F238E27FC236}">
                <a16:creationId xmlns:a16="http://schemas.microsoft.com/office/drawing/2014/main" id="{EA7ADDAE-618D-2E65-2C78-42B16749A0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92" name="Google Shape;1292;p211:notes">
            <a:extLst>
              <a:ext uri="{FF2B5EF4-FFF2-40B4-BE49-F238E27FC236}">
                <a16:creationId xmlns:a16="http://schemas.microsoft.com/office/drawing/2014/main" id="{F7DF2063-6B60-0526-A4EC-A689584796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2831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>
          <a:extLst>
            <a:ext uri="{FF2B5EF4-FFF2-40B4-BE49-F238E27FC236}">
              <a16:creationId xmlns:a16="http://schemas.microsoft.com/office/drawing/2014/main" id="{9B1D3678-B17C-AC63-E428-63522D710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211:notes">
            <a:extLst>
              <a:ext uri="{FF2B5EF4-FFF2-40B4-BE49-F238E27FC236}">
                <a16:creationId xmlns:a16="http://schemas.microsoft.com/office/drawing/2014/main" id="{938A4F3A-4F9C-AD10-615F-00257F49E5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zh-TW" altLang="en-US" sz="1800" u="none" strike="noStrike" baseline="0" dirty="0">
                <a:latin typeface="Calibri" panose="020F0502020204030204" pitchFamily="34" charset="0"/>
              </a:rPr>
              <a:t>一個人是否罹患</a:t>
            </a:r>
            <a:r>
              <a:rPr lang="en-US" altLang="zh-TW" sz="1800" u="none" strike="noStrike" baseline="0" dirty="0">
                <a:latin typeface="Calibri" panose="020F0502020204030204" pitchFamily="34" charset="0"/>
              </a:rPr>
              <a:t>SMA</a:t>
            </a:r>
            <a:r>
              <a:rPr lang="zh-TW" altLang="en-US" sz="1800" u="none" strike="noStrike" baseline="0" dirty="0">
                <a:latin typeface="Calibri" panose="020F0502020204030204" pitchFamily="34" charset="0"/>
              </a:rPr>
              <a:t>，取決於正常功能的</a:t>
            </a:r>
            <a:r>
              <a:rPr lang="en-US" altLang="zh-TW" sz="1800" u="none" strike="noStrike" baseline="0" dirty="0">
                <a:latin typeface="Calibri" panose="020F0502020204030204" pitchFamily="34" charset="0"/>
              </a:rPr>
              <a:t>SMN1 </a:t>
            </a:r>
            <a:r>
              <a:rPr lang="zh-TW" altLang="en-US" sz="1800" u="none" strike="noStrike" baseline="0" dirty="0">
                <a:latin typeface="Calibri" panose="020F0502020204030204" pitchFamily="34" charset="0"/>
              </a:rPr>
              <a:t>基因套數；而</a:t>
            </a:r>
            <a:r>
              <a:rPr lang="en-US" altLang="zh-TW" sz="1800" u="none" strike="noStrike" baseline="0" dirty="0">
                <a:latin typeface="Calibri" panose="020F0502020204030204" pitchFamily="34" charset="0"/>
              </a:rPr>
              <a:t>SMN2 </a:t>
            </a:r>
            <a:r>
              <a:rPr lang="zh-TW" altLang="en-US" sz="1800" u="none" strike="noStrike" baseline="0" dirty="0">
                <a:latin typeface="Calibri" panose="020F0502020204030204" pitchFamily="34" charset="0"/>
              </a:rPr>
              <a:t>基因套數多寡則被認為與患者臨床症狀嚴重程度有關。</a:t>
            </a:r>
            <a:endParaRPr lang="en-US" altLang="zh-TW" sz="1800" u="none" strike="noStrike" baseline="0" dirty="0">
              <a:latin typeface="Calibri" panose="020F0502020204030204" pitchFamily="34" charset="0"/>
            </a:endParaRPr>
          </a:p>
          <a:p>
            <a:pPr algn="l"/>
            <a:r>
              <a:rPr lang="zh-TW" altLang="en-US" sz="1800" u="none" strike="noStrike" baseline="0" dirty="0">
                <a:latin typeface="Calibri" panose="020F0502020204030204" pitchFamily="34" charset="0"/>
              </a:rPr>
              <a:t>一般而言，</a:t>
            </a:r>
            <a:r>
              <a:rPr lang="en-US" altLang="zh-TW" sz="1800" u="none" strike="noStrike" baseline="0" dirty="0">
                <a:latin typeface="Calibri" panose="020F0502020204030204" pitchFamily="34" charset="0"/>
              </a:rPr>
              <a:t>SMN2 </a:t>
            </a:r>
            <a:r>
              <a:rPr lang="zh-TW" altLang="en-US" sz="1800" u="none" strike="noStrike" baseline="0" dirty="0">
                <a:latin typeface="Calibri" panose="020F0502020204030204" pitchFamily="34" charset="0"/>
              </a:rPr>
              <a:t>基因套數越多，發病年齡越晚、臨床症狀越輕微。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92" name="Google Shape;1292;p211:notes">
            <a:extLst>
              <a:ext uri="{FF2B5EF4-FFF2-40B4-BE49-F238E27FC236}">
                <a16:creationId xmlns:a16="http://schemas.microsoft.com/office/drawing/2014/main" id="{DC927F7C-0046-740B-1745-2F6110CC89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23975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>
          <a:extLst>
            <a:ext uri="{FF2B5EF4-FFF2-40B4-BE49-F238E27FC236}">
              <a16:creationId xmlns:a16="http://schemas.microsoft.com/office/drawing/2014/main" id="{5DD314C7-6C70-EFFA-E053-C15980CC3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211:notes">
            <a:extLst>
              <a:ext uri="{FF2B5EF4-FFF2-40B4-BE49-F238E27FC236}">
                <a16:creationId xmlns:a16="http://schemas.microsoft.com/office/drawing/2014/main" id="{67AB6FEC-52F7-161B-351B-6BA5591BE3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92" name="Google Shape;1292;p211:notes">
            <a:extLst>
              <a:ext uri="{FF2B5EF4-FFF2-40B4-BE49-F238E27FC236}">
                <a16:creationId xmlns:a16="http://schemas.microsoft.com/office/drawing/2014/main" id="{EBBAB1C8-C86A-F9B5-9402-CEDFC317C5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58836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>
          <a:extLst>
            <a:ext uri="{FF2B5EF4-FFF2-40B4-BE49-F238E27FC236}">
              <a16:creationId xmlns:a16="http://schemas.microsoft.com/office/drawing/2014/main" id="{98CA2F30-4820-982B-91C9-5EBDC3F8C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211:notes">
            <a:extLst>
              <a:ext uri="{FF2B5EF4-FFF2-40B4-BE49-F238E27FC236}">
                <a16:creationId xmlns:a16="http://schemas.microsoft.com/office/drawing/2014/main" id="{C9D267E8-8975-55FE-AB33-CC96641A4E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92" name="Google Shape;1292;p211:notes">
            <a:extLst>
              <a:ext uri="{FF2B5EF4-FFF2-40B4-BE49-F238E27FC236}">
                <a16:creationId xmlns:a16="http://schemas.microsoft.com/office/drawing/2014/main" id="{63D0343D-83D8-F352-6A5D-25C4262447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7859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>
          <a:extLst>
            <a:ext uri="{FF2B5EF4-FFF2-40B4-BE49-F238E27FC236}">
              <a16:creationId xmlns:a16="http://schemas.microsoft.com/office/drawing/2014/main" id="{E92FD876-F769-D727-6CC2-8D314CB9F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211:notes">
            <a:extLst>
              <a:ext uri="{FF2B5EF4-FFF2-40B4-BE49-F238E27FC236}">
                <a16:creationId xmlns:a16="http://schemas.microsoft.com/office/drawing/2014/main" id="{02E911EC-4A54-6F02-C513-E289A8BCCD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92" name="Google Shape;1292;p211:notes">
            <a:extLst>
              <a:ext uri="{FF2B5EF4-FFF2-40B4-BE49-F238E27FC236}">
                <a16:creationId xmlns:a16="http://schemas.microsoft.com/office/drawing/2014/main" id="{C1A90126-CAFF-6222-250F-7B6BA093A0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50016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>
          <a:extLst>
            <a:ext uri="{FF2B5EF4-FFF2-40B4-BE49-F238E27FC236}">
              <a16:creationId xmlns:a16="http://schemas.microsoft.com/office/drawing/2014/main" id="{841DF62D-BCD5-0161-6B33-366EFB5E2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211:notes">
            <a:extLst>
              <a:ext uri="{FF2B5EF4-FFF2-40B4-BE49-F238E27FC236}">
                <a16:creationId xmlns:a16="http://schemas.microsoft.com/office/drawing/2014/main" id="{3AF19FC7-2272-66A0-BB26-1DB290E0F0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92" name="Google Shape;1292;p211:notes">
            <a:extLst>
              <a:ext uri="{FF2B5EF4-FFF2-40B4-BE49-F238E27FC236}">
                <a16:creationId xmlns:a16="http://schemas.microsoft.com/office/drawing/2014/main" id="{C421BE0A-9AB0-EBE3-11C9-F1D89F0127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84099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>
          <a:extLst>
            <a:ext uri="{FF2B5EF4-FFF2-40B4-BE49-F238E27FC236}">
              <a16:creationId xmlns:a16="http://schemas.microsoft.com/office/drawing/2014/main" id="{98E59365-3DBB-AD9A-0EB6-9E8749323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211:notes">
            <a:extLst>
              <a:ext uri="{FF2B5EF4-FFF2-40B4-BE49-F238E27FC236}">
                <a16:creationId xmlns:a16="http://schemas.microsoft.com/office/drawing/2014/main" id="{DA62E664-E27A-C24C-BEF9-E82F754034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92" name="Google Shape;1292;p211:notes">
            <a:extLst>
              <a:ext uri="{FF2B5EF4-FFF2-40B4-BE49-F238E27FC236}">
                <a16:creationId xmlns:a16="http://schemas.microsoft.com/office/drawing/2014/main" id="{A68FF17E-81D2-ED12-AD22-C711D961E3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71432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>
          <a:extLst>
            <a:ext uri="{FF2B5EF4-FFF2-40B4-BE49-F238E27FC236}">
              <a16:creationId xmlns:a16="http://schemas.microsoft.com/office/drawing/2014/main" id="{0DE467CD-7BF0-3F10-39D8-11C6BC0FE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211:notes">
            <a:extLst>
              <a:ext uri="{FF2B5EF4-FFF2-40B4-BE49-F238E27FC236}">
                <a16:creationId xmlns:a16="http://schemas.microsoft.com/office/drawing/2014/main" id="{98BC00DC-25CE-C231-0A05-1DA10A826E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92" name="Google Shape;1292;p211:notes">
            <a:extLst>
              <a:ext uri="{FF2B5EF4-FFF2-40B4-BE49-F238E27FC236}">
                <a16:creationId xmlns:a16="http://schemas.microsoft.com/office/drawing/2014/main" id="{272184C7-E153-B679-1456-55C21B13D0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00658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3" name="Google Shape;373;p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>
          <a:extLst>
            <a:ext uri="{FF2B5EF4-FFF2-40B4-BE49-F238E27FC236}">
              <a16:creationId xmlns:a16="http://schemas.microsoft.com/office/drawing/2014/main" id="{31F75B41-A6E0-2303-44CB-B21A77177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211:notes">
            <a:extLst>
              <a:ext uri="{FF2B5EF4-FFF2-40B4-BE49-F238E27FC236}">
                <a16:creationId xmlns:a16="http://schemas.microsoft.com/office/drawing/2014/main" id="{1527B9BA-2AC7-A1AF-FFEF-CB9D9AF6A9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歲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步態成熟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後退走腳間腳跟走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小步地跳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(skipping)/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寫名子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接球唱歌跳舞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說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6-8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詞的句子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以上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知道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coin,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地址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完規則遊戲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綁鞋帶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歲半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不扶，單腳站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秒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合併雙腳跳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45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公分以上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仿畫三角形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能畫人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至少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個可辨認部位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正確排出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1-10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數字卡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能模仿覆誦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個阿拉伯數子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能說出身體部位的功能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會拉上或解開拉鍊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會玩簡單規則的遊戲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如捉迷藏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92" name="Google Shape;1292;p211:notes">
            <a:extLst>
              <a:ext uri="{FF2B5EF4-FFF2-40B4-BE49-F238E27FC236}">
                <a16:creationId xmlns:a16="http://schemas.microsoft.com/office/drawing/2014/main" id="{87D19267-E7CD-A361-D146-383A6B8DAE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84591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9" name="Google Shape;379;p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>
          <a:extLst>
            <a:ext uri="{FF2B5EF4-FFF2-40B4-BE49-F238E27FC236}">
              <a16:creationId xmlns:a16="http://schemas.microsoft.com/office/drawing/2014/main" id="{7DBE9165-E71A-CF5A-BF00-29FFE5ABE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211:notes">
            <a:extLst>
              <a:ext uri="{FF2B5EF4-FFF2-40B4-BE49-F238E27FC236}">
                <a16:creationId xmlns:a16="http://schemas.microsoft.com/office/drawing/2014/main" id="{1434E512-4C1B-556E-2088-7BD8B7B729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92" name="Google Shape;1292;p211:notes">
            <a:extLst>
              <a:ext uri="{FF2B5EF4-FFF2-40B4-BE49-F238E27FC236}">
                <a16:creationId xmlns:a16="http://schemas.microsoft.com/office/drawing/2014/main" id="{CC5BE3E5-B0B4-F12A-2A22-4F3B5B7CA5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4213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6"/>
          <p:cNvSpPr txBox="1"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0" name="Google Shape;100;p146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01" name="Google Shape;101;p146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zh-TW" altLang="en-US" dirty="0"/>
          </a:p>
        </p:txBody>
      </p:sp>
      <p:sp>
        <p:nvSpPr>
          <p:cNvPr id="102" name="Google Shape;102;p146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zh-TW" altLang="en-US" dirty="0"/>
          </a:p>
        </p:txBody>
      </p:sp>
      <p:sp>
        <p:nvSpPr>
          <p:cNvPr id="103" name="Google Shape;103;p14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5"/>
          <p:cNvSpPr txBox="1">
            <a:spLocks noGrp="1"/>
          </p:cNvSpPr>
          <p:nvPr>
            <p:ph type="title"/>
          </p:nvPr>
        </p:nvSpPr>
        <p:spPr>
          <a:xfrm>
            <a:off x="839789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5" name="Google Shape;125;p15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77"/>
              </a:spcBef>
              <a:spcAft>
                <a:spcPts val="0"/>
              </a:spcAft>
              <a:buClr>
                <a:schemeClr val="dk1"/>
              </a:buClr>
              <a:buSzPts val="2345"/>
              <a:buNone/>
              <a:defRPr sz="2345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954"/>
              <a:buNone/>
              <a:defRPr sz="1954" b="1"/>
            </a:lvl2pPr>
            <a:lvl3pPr marL="1371600" lvl="2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759"/>
              <a:buNone/>
              <a:defRPr sz="1759" b="1"/>
            </a:lvl3pPr>
            <a:lvl4pPr marL="1828800" lvl="3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563"/>
              <a:buNone/>
              <a:defRPr sz="1563" b="1"/>
            </a:lvl4pPr>
            <a:lvl5pPr marL="2286000" lvl="4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563"/>
              <a:buNone/>
              <a:defRPr sz="1563" b="1"/>
            </a:lvl5pPr>
            <a:lvl6pPr marL="2743200" lvl="5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563"/>
              <a:buNone/>
              <a:defRPr sz="1563" b="1"/>
            </a:lvl6pPr>
            <a:lvl7pPr marL="3200400" lvl="6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563"/>
              <a:buNone/>
              <a:defRPr sz="1563" b="1"/>
            </a:lvl7pPr>
            <a:lvl8pPr marL="3657600" lvl="7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563"/>
              <a:buNone/>
              <a:defRPr sz="1563" b="1"/>
            </a:lvl8pPr>
            <a:lvl9pPr marL="4114800" lvl="8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563"/>
              <a:buNone/>
              <a:defRPr sz="1563" b="1"/>
            </a:lvl9pPr>
          </a:lstStyle>
          <a:p>
            <a:endParaRPr dirty="0"/>
          </a:p>
        </p:txBody>
      </p:sp>
      <p:sp>
        <p:nvSpPr>
          <p:cNvPr id="126" name="Google Shape;126;p15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27" name="Google Shape;127;p15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77"/>
              </a:spcBef>
              <a:spcAft>
                <a:spcPts val="0"/>
              </a:spcAft>
              <a:buClr>
                <a:schemeClr val="dk1"/>
              </a:buClr>
              <a:buSzPts val="2345"/>
              <a:buNone/>
              <a:defRPr sz="2345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954"/>
              <a:buNone/>
              <a:defRPr sz="1954" b="1"/>
            </a:lvl2pPr>
            <a:lvl3pPr marL="1371600" lvl="2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759"/>
              <a:buNone/>
              <a:defRPr sz="1759" b="1"/>
            </a:lvl3pPr>
            <a:lvl4pPr marL="1828800" lvl="3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563"/>
              <a:buNone/>
              <a:defRPr sz="1563" b="1"/>
            </a:lvl4pPr>
            <a:lvl5pPr marL="2286000" lvl="4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563"/>
              <a:buNone/>
              <a:defRPr sz="1563" b="1"/>
            </a:lvl5pPr>
            <a:lvl6pPr marL="2743200" lvl="5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563"/>
              <a:buNone/>
              <a:defRPr sz="1563" b="1"/>
            </a:lvl6pPr>
            <a:lvl7pPr marL="3200400" lvl="6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563"/>
              <a:buNone/>
              <a:defRPr sz="1563" b="1"/>
            </a:lvl7pPr>
            <a:lvl8pPr marL="3657600" lvl="7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563"/>
              <a:buNone/>
              <a:defRPr sz="1563" b="1"/>
            </a:lvl8pPr>
            <a:lvl9pPr marL="4114800" lvl="8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563"/>
              <a:buNone/>
              <a:defRPr sz="1563" b="1"/>
            </a:lvl9pPr>
          </a:lstStyle>
          <a:p>
            <a:endParaRPr dirty="0"/>
          </a:p>
        </p:txBody>
      </p:sp>
      <p:sp>
        <p:nvSpPr>
          <p:cNvPr id="128" name="Google Shape;128;p15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29" name="Google Shape;129;p155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zh-TW" altLang="en-US" dirty="0"/>
          </a:p>
        </p:txBody>
      </p:sp>
      <p:sp>
        <p:nvSpPr>
          <p:cNvPr id="130" name="Google Shape;130;p155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zh-TW" altLang="en-US" dirty="0"/>
          </a:p>
        </p:txBody>
      </p:sp>
      <p:sp>
        <p:nvSpPr>
          <p:cNvPr id="131" name="Google Shape;131;p1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6"/>
          <p:cNvSpPr txBox="1"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4" name="Google Shape;134;p156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zh-TW" altLang="en-US" dirty="0"/>
          </a:p>
        </p:txBody>
      </p:sp>
      <p:sp>
        <p:nvSpPr>
          <p:cNvPr id="135" name="Google Shape;135;p156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zh-TW" altLang="en-US" dirty="0"/>
          </a:p>
        </p:txBody>
      </p:sp>
      <p:sp>
        <p:nvSpPr>
          <p:cNvPr id="136" name="Google Shape;136;p15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8"/>
          <p:cNvSpPr txBox="1"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26"/>
              <a:buFont typeface="Calibri"/>
              <a:buNone/>
              <a:defRPr sz="3126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3" name="Google Shape;143;p15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27101" algn="l">
              <a:lnSpc>
                <a:spcPct val="90000"/>
              </a:lnSpc>
              <a:spcBef>
                <a:spcPts val="977"/>
              </a:spcBef>
              <a:spcAft>
                <a:spcPts val="0"/>
              </a:spcAft>
              <a:buClr>
                <a:schemeClr val="dk1"/>
              </a:buClr>
              <a:buSzPts val="3126"/>
              <a:buChar char="•"/>
              <a:defRPr sz="3126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402336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2736"/>
              <a:buChar char="•"/>
              <a:defRPr sz="2736"/>
            </a:lvl2pPr>
            <a:lvl3pPr marL="1371600" lvl="2" indent="-377507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2345"/>
              <a:buChar char="•"/>
              <a:defRPr sz="2345"/>
            </a:lvl3pPr>
            <a:lvl4pPr marL="1828800" lvl="3" indent="-352679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954"/>
              <a:buChar char="•"/>
              <a:defRPr sz="1954"/>
            </a:lvl4pPr>
            <a:lvl5pPr marL="2286000" lvl="4" indent="-352679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954"/>
              <a:buChar char="•"/>
              <a:defRPr sz="1954"/>
            </a:lvl5pPr>
            <a:lvl6pPr marL="2743200" lvl="5" indent="-352679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954"/>
              <a:buChar char="•"/>
              <a:defRPr sz="1954"/>
            </a:lvl6pPr>
            <a:lvl7pPr marL="3200400" lvl="6" indent="-352679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954"/>
              <a:buChar char="•"/>
              <a:defRPr sz="1954"/>
            </a:lvl7pPr>
            <a:lvl8pPr marL="3657600" lvl="7" indent="-352678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954"/>
              <a:buChar char="•"/>
              <a:defRPr sz="1954"/>
            </a:lvl8pPr>
            <a:lvl9pPr marL="4114800" lvl="8" indent="-352678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954"/>
              <a:buChar char="•"/>
              <a:defRPr sz="1954"/>
            </a:lvl9pPr>
          </a:lstStyle>
          <a:p>
            <a:endParaRPr dirty="0"/>
          </a:p>
        </p:txBody>
      </p:sp>
      <p:sp>
        <p:nvSpPr>
          <p:cNvPr id="144" name="Google Shape;144;p158"/>
          <p:cNvSpPr txBox="1">
            <a:spLocks noGrp="1"/>
          </p:cNvSpPr>
          <p:nvPr>
            <p:ph type="body" idx="2"/>
          </p:nvPr>
        </p:nvSpPr>
        <p:spPr>
          <a:xfrm>
            <a:off x="839789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77"/>
              </a:spcBef>
              <a:spcAft>
                <a:spcPts val="0"/>
              </a:spcAft>
              <a:buClr>
                <a:schemeClr val="dk1"/>
              </a:buClr>
              <a:buSzPts val="1563"/>
              <a:buNone/>
              <a:defRPr sz="1563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368"/>
              <a:buNone/>
              <a:defRPr sz="1368"/>
            </a:lvl2pPr>
            <a:lvl3pPr marL="1371600" lvl="2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172"/>
              <a:buNone/>
              <a:defRPr sz="1172"/>
            </a:lvl3pPr>
            <a:lvl4pPr marL="1828800" lvl="3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977"/>
              <a:buNone/>
              <a:defRPr sz="977"/>
            </a:lvl4pPr>
            <a:lvl5pPr marL="2286000" lvl="4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977"/>
              <a:buNone/>
              <a:defRPr sz="977"/>
            </a:lvl5pPr>
            <a:lvl6pPr marL="2743200" lvl="5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977"/>
              <a:buNone/>
              <a:defRPr sz="977"/>
            </a:lvl6pPr>
            <a:lvl7pPr marL="3200400" lvl="6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977"/>
              <a:buNone/>
              <a:defRPr sz="977"/>
            </a:lvl7pPr>
            <a:lvl8pPr marL="3657600" lvl="7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977"/>
              <a:buNone/>
              <a:defRPr sz="977"/>
            </a:lvl8pPr>
            <a:lvl9pPr marL="4114800" lvl="8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977"/>
              <a:buNone/>
              <a:defRPr sz="977"/>
            </a:lvl9pPr>
          </a:lstStyle>
          <a:p>
            <a:endParaRPr dirty="0"/>
          </a:p>
        </p:txBody>
      </p:sp>
      <p:sp>
        <p:nvSpPr>
          <p:cNvPr id="145" name="Google Shape;145;p158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zh-TW" altLang="en-US" dirty="0"/>
          </a:p>
        </p:txBody>
      </p:sp>
      <p:sp>
        <p:nvSpPr>
          <p:cNvPr id="146" name="Google Shape;146;p158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zh-TW" altLang="en-US" dirty="0"/>
          </a:p>
        </p:txBody>
      </p:sp>
      <p:sp>
        <p:nvSpPr>
          <p:cNvPr id="147" name="Google Shape;147;p15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9"/>
          <p:cNvSpPr txBox="1"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26"/>
              <a:buFont typeface="Calibri"/>
              <a:buNone/>
              <a:defRPr sz="3126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0" name="Google Shape;150;p15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159"/>
          <p:cNvSpPr txBox="1">
            <a:spLocks noGrp="1"/>
          </p:cNvSpPr>
          <p:nvPr>
            <p:ph type="body" idx="1"/>
          </p:nvPr>
        </p:nvSpPr>
        <p:spPr>
          <a:xfrm>
            <a:off x="839789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77"/>
              </a:spcBef>
              <a:spcAft>
                <a:spcPts val="0"/>
              </a:spcAft>
              <a:buClr>
                <a:schemeClr val="dk1"/>
              </a:buClr>
              <a:buSzPts val="1563"/>
              <a:buNone/>
              <a:defRPr sz="1563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368"/>
              <a:buNone/>
              <a:defRPr sz="1368"/>
            </a:lvl2pPr>
            <a:lvl3pPr marL="1371600" lvl="2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172"/>
              <a:buNone/>
              <a:defRPr sz="1172"/>
            </a:lvl3pPr>
            <a:lvl4pPr marL="1828800" lvl="3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977"/>
              <a:buNone/>
              <a:defRPr sz="977"/>
            </a:lvl4pPr>
            <a:lvl5pPr marL="2286000" lvl="4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977"/>
              <a:buNone/>
              <a:defRPr sz="977"/>
            </a:lvl5pPr>
            <a:lvl6pPr marL="2743200" lvl="5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977"/>
              <a:buNone/>
              <a:defRPr sz="977"/>
            </a:lvl6pPr>
            <a:lvl7pPr marL="3200400" lvl="6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977"/>
              <a:buNone/>
              <a:defRPr sz="977"/>
            </a:lvl7pPr>
            <a:lvl8pPr marL="3657600" lvl="7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977"/>
              <a:buNone/>
              <a:defRPr sz="977"/>
            </a:lvl8pPr>
            <a:lvl9pPr marL="4114800" lvl="8" indent="-2286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977"/>
              <a:buNone/>
              <a:defRPr sz="977"/>
            </a:lvl9pPr>
          </a:lstStyle>
          <a:p>
            <a:endParaRPr dirty="0"/>
          </a:p>
        </p:txBody>
      </p:sp>
      <p:sp>
        <p:nvSpPr>
          <p:cNvPr id="152" name="Google Shape;152;p159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zh-TW" altLang="en-US" dirty="0"/>
          </a:p>
        </p:txBody>
      </p:sp>
      <p:sp>
        <p:nvSpPr>
          <p:cNvPr id="153" name="Google Shape;153;p159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zh-TW" altLang="en-US" dirty="0"/>
          </a:p>
        </p:txBody>
      </p:sp>
      <p:sp>
        <p:nvSpPr>
          <p:cNvPr id="154" name="Google Shape;154;p15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3" name="Google Shape;163;p16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914400" lvl="1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64" name="Google Shape;164;p161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zh-TW" altLang="en-US" dirty="0"/>
          </a:p>
        </p:txBody>
      </p:sp>
      <p:sp>
        <p:nvSpPr>
          <p:cNvPr id="165" name="Google Shape;165;p161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zh-TW" altLang="en-US" dirty="0"/>
          </a:p>
        </p:txBody>
      </p:sp>
      <p:sp>
        <p:nvSpPr>
          <p:cNvPr id="166" name="Google Shape;166;p16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5"/>
          <p:cNvSpPr txBox="1"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9"/>
              <a:buFont typeface="Calibri"/>
              <a:buNone/>
              <a:defRPr sz="4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94" name="Google Shape;94;p145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2336" algn="l" rtl="0">
              <a:lnSpc>
                <a:spcPct val="90000"/>
              </a:lnSpc>
              <a:spcBef>
                <a:spcPts val="977"/>
              </a:spcBef>
              <a:spcAft>
                <a:spcPts val="0"/>
              </a:spcAft>
              <a:buClr>
                <a:schemeClr val="dk1"/>
              </a:buClr>
              <a:buSzPts val="2736"/>
              <a:buFont typeface="Arial"/>
              <a:buChar char="•"/>
              <a:defRPr sz="27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77507" algn="l" rtl="0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2345"/>
              <a:buFont typeface="Arial"/>
              <a:buChar char="•"/>
              <a:defRPr sz="234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2679" algn="l" rtl="0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0296" algn="l" rtl="0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759"/>
              <a:buFont typeface="Arial"/>
              <a:buChar char="•"/>
              <a:defRPr sz="17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0296" algn="l" rtl="0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759"/>
              <a:buFont typeface="Arial"/>
              <a:buChar char="•"/>
              <a:defRPr sz="17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0296" algn="l" rtl="0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759"/>
              <a:buFont typeface="Arial"/>
              <a:buChar char="•"/>
              <a:defRPr sz="17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0296" algn="l" rtl="0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759"/>
              <a:buFont typeface="Arial"/>
              <a:buChar char="•"/>
              <a:defRPr sz="17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0296" algn="l" rtl="0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759"/>
              <a:buFont typeface="Arial"/>
              <a:buChar char="•"/>
              <a:defRPr sz="17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0296" algn="l" rtl="0">
              <a:lnSpc>
                <a:spcPct val="90000"/>
              </a:lnSpc>
              <a:spcBef>
                <a:spcPts val="488"/>
              </a:spcBef>
              <a:spcAft>
                <a:spcPts val="0"/>
              </a:spcAft>
              <a:buClr>
                <a:schemeClr val="dk1"/>
              </a:buClr>
              <a:buSzPts val="1759"/>
              <a:buFont typeface="Arial"/>
              <a:buChar char="•"/>
              <a:defRPr sz="17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5" name="Google Shape;95;p145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zh-TW" altLang="en-US" dirty="0"/>
          </a:p>
        </p:txBody>
      </p:sp>
      <p:sp>
        <p:nvSpPr>
          <p:cNvPr id="96" name="Google Shape;96;p145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zh-TW" altLang="en-US" dirty="0"/>
          </a:p>
        </p:txBody>
      </p:sp>
      <p:sp>
        <p:nvSpPr>
          <p:cNvPr id="97" name="Google Shape;97;p14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2"/>
              <a:buFont typeface="Arial"/>
              <a:buNone/>
              <a:defRPr sz="117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7" r:id="rId2"/>
    <p:sldLayoutId id="2147483668" r:id="rId3"/>
    <p:sldLayoutId id="2147483670" r:id="rId4"/>
    <p:sldLayoutId id="2147483671" r:id="rId5"/>
    <p:sldLayoutId id="2147483673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標楷體" panose="03000509000000000000" pitchFamily="65" charset="-120"/>
          <a:ea typeface="標楷體" panose="03000509000000000000" pitchFamily="65" charset="-12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標楷體" panose="03000509000000000000" pitchFamily="65" charset="-120"/>
          <a:ea typeface="標楷體" panose="03000509000000000000" pitchFamily="65" charset="-12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"/>
          <p:cNvSpPr txBox="1">
            <a:spLocks noGrp="1"/>
          </p:cNvSpPr>
          <p:nvPr>
            <p:ph type="title"/>
          </p:nvPr>
        </p:nvSpPr>
        <p:spPr>
          <a:xfrm>
            <a:off x="848511" y="124691"/>
            <a:ext cx="11018855" cy="993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ct val="100000"/>
            </a:pPr>
            <a:r>
              <a:rPr lang="zh-TW" sz="3600" b="1" dirty="0">
                <a:cs typeface="Calibri" panose="020F0502020204030204" pitchFamily="34" charset="0"/>
                <a:sym typeface="DFKai-SB"/>
              </a:rPr>
              <a:t>小兒口試分析：</a:t>
            </a:r>
            <a:r>
              <a:rPr lang="zh-TW" altLang="en-US" sz="3600" b="1" dirty="0">
                <a:cs typeface="Calibri" panose="020F0502020204030204" pitchFamily="34" charset="0"/>
                <a:sym typeface="DFKai-SB"/>
              </a:rPr>
              <a:t>一張紙有正反兩面，答完第一面才能翻，</a:t>
            </a:r>
            <a:r>
              <a:rPr lang="zh-TW" altLang="zh-TW" sz="3600" b="1" dirty="0">
                <a:cs typeface="Calibri" panose="020F0502020204030204" pitchFamily="34" charset="0"/>
                <a:sym typeface="DFKai-SB"/>
              </a:rPr>
              <a:t>考官不講話</a:t>
            </a:r>
            <a:r>
              <a:rPr lang="zh-TW" altLang="en-US" sz="3600" b="1" dirty="0">
                <a:cs typeface="Calibri" panose="020F0502020204030204" pitchFamily="34" charset="0"/>
                <a:sym typeface="DFKai-SB"/>
              </a:rPr>
              <a:t>，</a:t>
            </a:r>
            <a:r>
              <a:rPr lang="zh-TW" altLang="zh-TW" sz="3600" b="1" dirty="0">
                <a:cs typeface="Calibri" panose="020F0502020204030204" pitchFamily="34" charset="0"/>
                <a:sym typeface="DFKai-SB"/>
              </a:rPr>
              <a:t>自問自答</a:t>
            </a:r>
            <a:r>
              <a:rPr lang="zh-TW" altLang="en-US" sz="3600" b="1" dirty="0">
                <a:cs typeface="Calibri" panose="020F0502020204030204" pitchFamily="34" charset="0"/>
                <a:sym typeface="DFKai-SB"/>
              </a:rPr>
              <a:t>，</a:t>
            </a:r>
            <a:r>
              <a:rPr lang="zh-TW" altLang="zh-TW" sz="3600" b="1" dirty="0">
                <a:cs typeface="Calibri" panose="020F0502020204030204" pitchFamily="34" charset="0"/>
                <a:sym typeface="DFKai-SB"/>
              </a:rPr>
              <a:t>會說可以答下一題</a:t>
            </a:r>
            <a:endParaRPr sz="3600" b="1" dirty="0">
              <a:cs typeface="Calibri" panose="020F0502020204030204" pitchFamily="34" charset="0"/>
              <a:sym typeface="DFKai-SB"/>
            </a:endParaRPr>
          </a:p>
        </p:txBody>
      </p:sp>
      <p:sp>
        <p:nvSpPr>
          <p:cNvPr id="192" name="Google Shape;192;p3"/>
          <p:cNvSpPr txBox="1">
            <a:spLocks noGrp="1"/>
          </p:cNvSpPr>
          <p:nvPr>
            <p:ph type="body" idx="1"/>
          </p:nvPr>
        </p:nvSpPr>
        <p:spPr>
          <a:xfrm>
            <a:off x="5330185" y="1178169"/>
            <a:ext cx="6861815" cy="5679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SzPts val="2000"/>
              <a:buNone/>
            </a:pPr>
            <a:r>
              <a:rPr lang="zh-TW" sz="1600" b="1" dirty="0">
                <a:solidFill>
                  <a:srgbClr val="FF0000"/>
                </a:solidFill>
                <a:cs typeface="Calibri" panose="020F0502020204030204" pitchFamily="34" charset="0"/>
                <a:sym typeface="DFKai-SB"/>
              </a:rPr>
              <a:t>題目會給病人</a:t>
            </a:r>
            <a:r>
              <a:rPr lang="zh-TW" altLang="en-US" sz="1600" b="1" dirty="0">
                <a:solidFill>
                  <a:srgbClr val="FF0000"/>
                </a:solidFill>
                <a:cs typeface="Calibri" panose="020F0502020204030204" pitchFamily="34" charset="0"/>
                <a:sym typeface="DFKai-SB"/>
              </a:rPr>
              <a:t>主訴</a:t>
            </a:r>
            <a:r>
              <a:rPr lang="zh-TW" altLang="zh-TW" sz="1600" b="1" dirty="0">
                <a:solidFill>
                  <a:srgbClr val="FF0000"/>
                </a:solidFill>
                <a:cs typeface="Calibri" panose="020F0502020204030204" pitchFamily="34" charset="0"/>
                <a:sym typeface="DFKai-SB"/>
              </a:rPr>
              <a:t> </a:t>
            </a:r>
            <a:r>
              <a:rPr lang="en-US" altLang="zh-TW" sz="1600" b="1" dirty="0">
                <a:solidFill>
                  <a:srgbClr val="FF0000"/>
                </a:solidFill>
                <a:cs typeface="Calibri" panose="020F0502020204030204" pitchFamily="34" charset="0"/>
                <a:sym typeface="DFKai-SB"/>
              </a:rPr>
              <a:t>(</a:t>
            </a:r>
            <a:r>
              <a:rPr lang="en-US" altLang="zh-TW" sz="1600" b="1" dirty="0" err="1">
                <a:solidFill>
                  <a:srgbClr val="FF0000"/>
                </a:solidFill>
                <a:cs typeface="Calibri" panose="020F0502020204030204" pitchFamily="34" charset="0"/>
                <a:sym typeface="DFKai-SB"/>
              </a:rPr>
              <a:t>詢問最可能的診斷以及診斷流程</a:t>
            </a:r>
            <a:r>
              <a:rPr lang="en-US" altLang="zh-TW" sz="1600" b="1" dirty="0">
                <a:solidFill>
                  <a:srgbClr val="FF0000"/>
                </a:solidFill>
                <a:cs typeface="Calibri" panose="020F0502020204030204" pitchFamily="34" charset="0"/>
                <a:sym typeface="DFKai-SB"/>
              </a:rPr>
              <a:t>)</a:t>
            </a:r>
            <a:r>
              <a:rPr lang="zh-TW" sz="1600" b="1" dirty="0">
                <a:solidFill>
                  <a:srgbClr val="FF0000"/>
                </a:solidFill>
                <a:cs typeface="Calibri" panose="020F0502020204030204" pitchFamily="34" charset="0"/>
                <a:sym typeface="DFKai-SB"/>
              </a:rPr>
              <a:t>、IQ</a:t>
            </a:r>
            <a:r>
              <a:rPr lang="zh-TW" altLang="en-US" sz="1600" b="1" dirty="0">
                <a:solidFill>
                  <a:srgbClr val="FF0000"/>
                </a:solidFill>
                <a:cs typeface="Calibri" panose="020F0502020204030204" pitchFamily="34" charset="0"/>
                <a:sym typeface="DFKai-SB"/>
              </a:rPr>
              <a:t>和</a:t>
            </a:r>
            <a:r>
              <a:rPr lang="zh-TW" sz="1600" b="1" dirty="0">
                <a:solidFill>
                  <a:srgbClr val="FF0000"/>
                </a:solidFill>
                <a:cs typeface="Calibri" panose="020F0502020204030204" pitchFamily="34" charset="0"/>
                <a:sym typeface="DFKai-SB"/>
              </a:rPr>
              <a:t>各領域發展百分比，請你回答：</a:t>
            </a:r>
            <a:endParaRPr lang="zh-TW" sz="1600" b="1" dirty="0">
              <a:cs typeface="Calibri" panose="020F0502020204030204" pitchFamily="34" charset="0"/>
            </a:endParaRPr>
          </a:p>
          <a:p>
            <a:pPr marL="228600" lvl="0" indent="-228600" rtl="0">
              <a:lnSpc>
                <a:spcPct val="110000"/>
              </a:lnSpc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■"/>
            </a:pPr>
            <a:r>
              <a:rPr lang="zh-TW" altLang="en-US" sz="1600" dirty="0">
                <a:cs typeface="Calibri" panose="020F0502020204030204" pitchFamily="34" charset="0"/>
                <a:sym typeface="DFKai-SB"/>
              </a:rPr>
              <a:t>給主訴，病史詢問</a:t>
            </a:r>
            <a:r>
              <a:rPr lang="en-US" altLang="zh-TW" sz="1600" dirty="0">
                <a:cs typeface="Calibri" panose="020F0502020204030204" pitchFamily="34" charset="0"/>
                <a:sym typeface="DFKai-SB"/>
              </a:rPr>
              <a:t>/</a:t>
            </a:r>
            <a:r>
              <a:rPr lang="zh-TW" altLang="en-US" sz="1600" dirty="0">
                <a:cs typeface="Calibri" panose="020F0502020204030204" pitchFamily="34" charset="0"/>
                <a:sym typeface="DFKai-SB"/>
              </a:rPr>
              <a:t>身體檢查</a:t>
            </a:r>
            <a:endParaRPr lang="zh-TW" sz="1600" dirty="0">
              <a:cs typeface="Calibri" panose="020F0502020204030204" pitchFamily="34" charset="0"/>
            </a:endParaRPr>
          </a:p>
          <a:p>
            <a:pPr marL="228600" lvl="0" indent="-228600">
              <a:lnSpc>
                <a:spcPct val="110000"/>
              </a:lnSpc>
              <a:buSzPts val="2000"/>
              <a:buFont typeface="Noto Sans Symbols"/>
              <a:buChar char="■"/>
            </a:pPr>
            <a:r>
              <a:rPr lang="zh-TW" altLang="en-US" sz="1600" b="1" dirty="0">
                <a:cs typeface="Calibri" panose="020F0502020204030204" pitchFamily="34" charset="0"/>
                <a:sym typeface="DFKai-SB"/>
              </a:rPr>
              <a:t>正常</a:t>
            </a:r>
            <a:r>
              <a:rPr lang="en-US" altLang="zh-TW" sz="1600" b="1" dirty="0">
                <a:cs typeface="Calibri" panose="020F0502020204030204" pitchFamily="34" charset="0"/>
                <a:sym typeface="DFKai-SB"/>
              </a:rPr>
              <a:t>Milestone(0-5</a:t>
            </a:r>
            <a:r>
              <a:rPr lang="zh-TW" altLang="en-US" sz="1600" b="1" dirty="0">
                <a:cs typeface="Calibri" panose="020F0502020204030204" pitchFamily="34" charset="0"/>
                <a:sym typeface="DFKai-SB"/>
              </a:rPr>
              <a:t>歲</a:t>
            </a:r>
            <a:r>
              <a:rPr lang="en-US" altLang="zh-TW" sz="1600" b="1" dirty="0">
                <a:cs typeface="Calibri" panose="020F0502020204030204" pitchFamily="34" charset="0"/>
                <a:sym typeface="DFKai-SB"/>
              </a:rPr>
              <a:t>)</a:t>
            </a:r>
            <a:r>
              <a:rPr lang="zh-TW" altLang="en-US" sz="1600" b="1" dirty="0">
                <a:cs typeface="Calibri" panose="020F0502020204030204" pitchFamily="34" charset="0"/>
                <a:sym typeface="DFKai-SB"/>
              </a:rPr>
              <a:t>？</a:t>
            </a:r>
          </a:p>
          <a:p>
            <a:pPr marL="228600" lvl="0" indent="-228600">
              <a:lnSpc>
                <a:spcPct val="110000"/>
              </a:lnSpc>
              <a:buSzPts val="2000"/>
              <a:buFont typeface="Noto Sans Symbols"/>
              <a:buChar char="■"/>
            </a:pPr>
            <a:r>
              <a:rPr lang="zh-TW" altLang="en-US" sz="1600" b="1" dirty="0">
                <a:cs typeface="Calibri" panose="020F0502020204030204" pitchFamily="34" charset="0"/>
                <a:sym typeface="DFKai-SB"/>
              </a:rPr>
              <a:t>有哪些領域發展遲緩及智能障礙？</a:t>
            </a:r>
            <a:br>
              <a:rPr lang="zh-TW" altLang="en-US" sz="1600" b="1" dirty="0">
                <a:cs typeface="Calibri" panose="020F0502020204030204" pitchFamily="34" charset="0"/>
                <a:sym typeface="DFKai-SB"/>
              </a:rPr>
            </a:br>
            <a:r>
              <a:rPr lang="en-US" altLang="zh-TW" sz="1600" b="1" dirty="0">
                <a:cs typeface="Calibri" panose="020F0502020204030204" pitchFamily="34" charset="0"/>
                <a:sym typeface="DFKai-SB"/>
              </a:rPr>
              <a:t>(</a:t>
            </a:r>
            <a:r>
              <a:rPr lang="zh-TW" altLang="en-US" sz="1600" b="1" dirty="0">
                <a:cs typeface="Calibri" panose="020F0502020204030204" pitchFamily="34" charset="0"/>
                <a:sym typeface="DFKai-SB"/>
              </a:rPr>
              <a:t>認知、語言、動作、社會情緒、感官</a:t>
            </a:r>
            <a:r>
              <a:rPr lang="en-US" altLang="zh-TW" sz="1600" b="1" dirty="0">
                <a:cs typeface="Calibri" panose="020F0502020204030204" pitchFamily="34" charset="0"/>
                <a:sym typeface="DFKai-SB"/>
              </a:rPr>
              <a:t>)</a:t>
            </a:r>
          </a:p>
          <a:p>
            <a:pPr marL="228600" lvl="0" indent="-228600">
              <a:lnSpc>
                <a:spcPct val="110000"/>
              </a:lnSpc>
              <a:buSzPts val="2000"/>
              <a:buFont typeface="Noto Sans Symbols"/>
              <a:buChar char="■"/>
            </a:pPr>
            <a:r>
              <a:rPr lang="zh-TW" altLang="en-US" sz="1600" dirty="0">
                <a:cs typeface="Calibri" panose="020F0502020204030204" pitchFamily="34" charset="0"/>
                <a:sym typeface="DFKai-SB"/>
              </a:rPr>
              <a:t>需安排哪些檢查與評估</a:t>
            </a:r>
            <a:r>
              <a:rPr lang="en-US" altLang="zh-TW" sz="1600" dirty="0">
                <a:cs typeface="Calibri" panose="020F0502020204030204" pitchFamily="34" charset="0"/>
                <a:sym typeface="DFKai-SB"/>
              </a:rPr>
              <a:t>(</a:t>
            </a:r>
            <a:r>
              <a:rPr lang="zh-TW" altLang="en-US" sz="1600" dirty="0">
                <a:cs typeface="Calibri" panose="020F0502020204030204" pitchFamily="34" charset="0"/>
                <a:sym typeface="DFKai-SB"/>
              </a:rPr>
              <a:t>用</a:t>
            </a:r>
            <a:r>
              <a:rPr lang="en-US" altLang="zh-TW" sz="1600" dirty="0">
                <a:cs typeface="Calibri" panose="020F0502020204030204" pitchFamily="34" charset="0"/>
                <a:sym typeface="DFKai-SB"/>
              </a:rPr>
              <a:t>ICF</a:t>
            </a:r>
            <a:r>
              <a:rPr lang="zh-TW" altLang="en-US" sz="1600" dirty="0">
                <a:cs typeface="Calibri" panose="020F0502020204030204" pitchFamily="34" charset="0"/>
                <a:sym typeface="DFKai-SB"/>
              </a:rPr>
              <a:t>架構來評估</a:t>
            </a:r>
            <a:r>
              <a:rPr lang="en-US" altLang="zh-TW" sz="1600" dirty="0">
                <a:cs typeface="Calibri" panose="020F0502020204030204" pitchFamily="34" charset="0"/>
                <a:sym typeface="DFKai-SB"/>
              </a:rPr>
              <a:t>)</a:t>
            </a:r>
            <a:r>
              <a:rPr lang="zh-TW" altLang="en-US" sz="1600" dirty="0">
                <a:cs typeface="Calibri" panose="020F0502020204030204" pitchFamily="34" charset="0"/>
                <a:sym typeface="DFKai-SB"/>
              </a:rPr>
              <a:t> </a:t>
            </a:r>
            <a:endParaRPr lang="en-US" altLang="zh-TW" sz="1600" dirty="0">
              <a:cs typeface="Calibri" panose="020F0502020204030204" pitchFamily="34" charset="0"/>
              <a:sym typeface="DFKai-SB"/>
            </a:endParaRPr>
          </a:p>
          <a:p>
            <a:pPr marL="228600" lvl="0" indent="-228600">
              <a:lnSpc>
                <a:spcPct val="110000"/>
              </a:lnSpc>
              <a:buSzPts val="2000"/>
              <a:buFont typeface="Noto Sans Symbols"/>
              <a:buChar char="■"/>
            </a:pPr>
            <a:r>
              <a:rPr lang="zh-TW" altLang="en-US" sz="1600" dirty="0">
                <a:cs typeface="Calibri" panose="020F0502020204030204" pitchFamily="34" charset="0"/>
                <a:sym typeface="DFKai-SB"/>
              </a:rPr>
              <a:t>如何治療</a:t>
            </a:r>
            <a:r>
              <a:rPr lang="en-US" altLang="zh-TW" sz="1600" dirty="0">
                <a:cs typeface="Calibri" panose="020F0502020204030204" pitchFamily="34" charset="0"/>
                <a:sym typeface="DFKai-SB"/>
              </a:rPr>
              <a:t>(</a:t>
            </a:r>
            <a:r>
              <a:rPr lang="zh-TW" altLang="en-US" sz="1600" dirty="0">
                <a:cs typeface="Calibri" panose="020F0502020204030204" pitchFamily="34" charset="0"/>
                <a:sym typeface="DFKai-SB"/>
              </a:rPr>
              <a:t>早療總論</a:t>
            </a:r>
            <a:r>
              <a:rPr lang="en-US" altLang="zh-TW" sz="1600" dirty="0">
                <a:cs typeface="Calibri" panose="020F0502020204030204" pitchFamily="34" charset="0"/>
                <a:sym typeface="DFKai-SB"/>
              </a:rPr>
              <a:t>/PT/OT/ST/</a:t>
            </a:r>
            <a:r>
              <a:rPr lang="zh-TW" altLang="en-US" sz="1600" dirty="0">
                <a:cs typeface="Calibri" panose="020F0502020204030204" pitchFamily="34" charset="0"/>
                <a:sym typeface="DFKai-SB"/>
              </a:rPr>
              <a:t>心理</a:t>
            </a:r>
            <a:r>
              <a:rPr lang="en-US" altLang="zh-TW" sz="1600" dirty="0">
                <a:cs typeface="Calibri" panose="020F0502020204030204" pitchFamily="34" charset="0"/>
                <a:sym typeface="DFKai-SB"/>
              </a:rPr>
              <a:t>/</a:t>
            </a:r>
            <a:r>
              <a:rPr lang="zh-TW" altLang="en-US" sz="1600" dirty="0"/>
              <a:t>張力處理</a:t>
            </a:r>
            <a:r>
              <a:rPr lang="en-US" altLang="zh-TW" sz="1600" dirty="0"/>
              <a:t>/</a:t>
            </a:r>
            <a:r>
              <a:rPr lang="zh-TW" altLang="en-US" sz="1600" dirty="0"/>
              <a:t>輔具使用</a:t>
            </a:r>
            <a:r>
              <a:rPr lang="en-US" altLang="zh-TW" sz="1600" dirty="0">
                <a:cs typeface="Calibri" panose="020F0502020204030204" pitchFamily="34" charset="0"/>
                <a:sym typeface="DFKai-SB"/>
              </a:rPr>
              <a:t>) </a:t>
            </a:r>
          </a:p>
          <a:p>
            <a:pPr marL="228600" lvl="0" indent="-228600">
              <a:lnSpc>
                <a:spcPct val="110000"/>
              </a:lnSpc>
              <a:buSzPts val="2000"/>
              <a:buFont typeface="Noto Sans Symbols"/>
              <a:buChar char="■"/>
            </a:pPr>
            <a:r>
              <a:rPr lang="zh-TW" altLang="en-US" sz="1600" dirty="0">
                <a:cs typeface="Calibri" panose="020F0502020204030204" pitchFamily="34" charset="0"/>
                <a:sym typeface="DFKai-SB"/>
              </a:rPr>
              <a:t>如何評估治療是否有進步</a:t>
            </a:r>
          </a:p>
          <a:p>
            <a:pPr marL="228600" indent="-228600">
              <a:lnSpc>
                <a:spcPct val="110000"/>
              </a:lnSpc>
              <a:buSzPts val="2000"/>
              <a:buFont typeface="Noto Sans Symbols"/>
              <a:buChar char="■"/>
            </a:pPr>
            <a:r>
              <a:rPr lang="zh-TW" altLang="en-US" sz="1600" dirty="0">
                <a:cs typeface="Calibri" panose="020F0502020204030204" pitchFamily="34" charset="0"/>
                <a:sym typeface="DFKai-SB"/>
              </a:rPr>
              <a:t>併發症如何處理</a:t>
            </a:r>
            <a:r>
              <a:rPr lang="en-US" altLang="zh-TW" sz="1600" dirty="0">
                <a:cs typeface="Calibri" panose="020F0502020204030204" pitchFamily="34" charset="0"/>
                <a:sym typeface="DFKai-SB"/>
              </a:rPr>
              <a:t>(</a:t>
            </a:r>
            <a:r>
              <a:rPr lang="zh-TW" altLang="en-US" sz="1600" dirty="0">
                <a:cs typeface="Calibri" panose="020F0502020204030204" pitchFamily="34" charset="0"/>
                <a:sym typeface="DFKai-SB"/>
              </a:rPr>
              <a:t>髖關節脫臼</a:t>
            </a:r>
            <a:r>
              <a:rPr lang="en-US" altLang="zh-TW" sz="1600" dirty="0">
                <a:cs typeface="Calibri" panose="020F0502020204030204" pitchFamily="34" charset="0"/>
                <a:sym typeface="DFKai-SB"/>
              </a:rPr>
              <a:t>)</a:t>
            </a:r>
            <a:endParaRPr lang="zh-TW" altLang="en-US" sz="1600" dirty="0">
              <a:cs typeface="Calibri" panose="020F0502020204030204" pitchFamily="34" charset="0"/>
              <a:sym typeface="DFKai-SB"/>
            </a:endParaRPr>
          </a:p>
          <a:p>
            <a:pPr marL="228600" lvl="0" indent="-228600">
              <a:lnSpc>
                <a:spcPct val="110000"/>
              </a:lnSpc>
              <a:buSzPts val="2000"/>
              <a:buFont typeface="Noto Sans Symbols"/>
              <a:buChar char="■"/>
            </a:pPr>
            <a:r>
              <a:rPr lang="zh-TW" altLang="en-US" sz="1600" dirty="0">
                <a:cs typeface="Calibri" panose="020F0502020204030204" pitchFamily="34" charset="0"/>
                <a:sym typeface="DFKai-SB"/>
              </a:rPr>
              <a:t>預後如何</a:t>
            </a:r>
            <a:r>
              <a:rPr lang="en-US" altLang="zh-TW" sz="1600" dirty="0">
                <a:cs typeface="Calibri" panose="020F0502020204030204" pitchFamily="34" charset="0"/>
                <a:sym typeface="DFKai-SB"/>
              </a:rPr>
              <a:t>(</a:t>
            </a:r>
            <a:r>
              <a:rPr lang="zh-TW" altLang="en-US" sz="1600" dirty="0">
                <a:cs typeface="Calibri" panose="020F0502020204030204" pitchFamily="34" charset="0"/>
                <a:sym typeface="DFKai-SB"/>
              </a:rPr>
              <a:t>能否走路 </a:t>
            </a:r>
            <a:r>
              <a:rPr lang="en-US" altLang="zh-TW" sz="1600" dirty="0">
                <a:cs typeface="Calibri" panose="020F0502020204030204" pitchFamily="34" charset="0"/>
                <a:sym typeface="DFKai-SB"/>
              </a:rPr>
              <a:t>&amp; </a:t>
            </a:r>
            <a:r>
              <a:rPr lang="zh-TW" altLang="en-US" sz="1600" dirty="0">
                <a:cs typeface="Calibri" panose="020F0502020204030204" pitchFamily="34" charset="0"/>
                <a:sym typeface="DFKai-SB"/>
              </a:rPr>
              <a:t>其它預後因子</a:t>
            </a:r>
            <a:r>
              <a:rPr lang="en-US" altLang="zh-TW" sz="1600" dirty="0">
                <a:cs typeface="Calibri" panose="020F0502020204030204" pitchFamily="34" charset="0"/>
                <a:sym typeface="DFKai-SB"/>
              </a:rPr>
              <a:t>)</a:t>
            </a:r>
          </a:p>
          <a:p>
            <a:pPr marL="228600" lvl="0" indent="-228600">
              <a:lnSpc>
                <a:spcPct val="110000"/>
              </a:lnSpc>
              <a:buSzPts val="2000"/>
              <a:buFont typeface="Noto Sans Symbols"/>
              <a:buChar char="■"/>
            </a:pPr>
            <a:r>
              <a:rPr lang="zh-TW" altLang="en-US" sz="1600" dirty="0">
                <a:cs typeface="Calibri" panose="020F0502020204030204" pitchFamily="34" charset="0"/>
                <a:sym typeface="DFKai-SB"/>
              </a:rPr>
              <a:t>完整的綜合報告書應該包含哪些內容</a:t>
            </a:r>
          </a:p>
          <a:p>
            <a:pPr marL="228600" lvl="0" indent="-228600">
              <a:lnSpc>
                <a:spcPct val="110000"/>
              </a:lnSpc>
              <a:buSzPts val="2000"/>
              <a:buFont typeface="Noto Sans Symbols"/>
              <a:buChar char="■"/>
            </a:pPr>
            <a:r>
              <a:rPr lang="zh-TW" altLang="en-US" sz="1600" dirty="0">
                <a:cs typeface="Calibri" panose="020F0502020204030204" pitchFamily="34" charset="0"/>
                <a:sym typeface="DFKai-SB"/>
              </a:rPr>
              <a:t>身心障礙手冊、重大傷病卡、早期療育相關福利與資源</a:t>
            </a:r>
          </a:p>
          <a:p>
            <a:pPr marL="228600" indent="-228600">
              <a:lnSpc>
                <a:spcPct val="110000"/>
              </a:lnSpc>
              <a:buSzPts val="2000"/>
              <a:buFont typeface="Noto Sans Symbols"/>
              <a:buChar char="■"/>
            </a:pPr>
            <a:r>
              <a:rPr lang="zh-TW" altLang="en-US" sz="1600" dirty="0">
                <a:cs typeface="Calibri" panose="020F0502020204030204" pitchFamily="34" charset="0"/>
                <a:sym typeface="DFKai-SB"/>
              </a:rPr>
              <a:t>轉銜安置</a:t>
            </a:r>
            <a:r>
              <a:rPr lang="en-US" altLang="zh-TW" sz="1600" dirty="0">
                <a:cs typeface="Calibri" panose="020F0502020204030204" pitchFamily="34" charset="0"/>
                <a:sym typeface="DFKai-SB"/>
              </a:rPr>
              <a:t>(</a:t>
            </a:r>
            <a:r>
              <a:rPr lang="zh-TW" altLang="en-US" sz="1600" dirty="0">
                <a:cs typeface="Calibri" panose="020F0502020204030204" pitchFamily="34" charset="0"/>
                <a:sym typeface="DFKai-SB"/>
              </a:rPr>
              <a:t>資源班</a:t>
            </a:r>
            <a:r>
              <a:rPr lang="en-US" altLang="zh-TW" sz="1600" dirty="0">
                <a:cs typeface="Calibri" panose="020F0502020204030204" pitchFamily="34" charset="0"/>
                <a:sym typeface="DFKai-SB"/>
              </a:rPr>
              <a:t>/</a:t>
            </a:r>
            <a:r>
              <a:rPr lang="zh-TW" altLang="en-US" sz="1600" dirty="0">
                <a:cs typeface="Calibri" panose="020F0502020204030204" pitchFamily="34" charset="0"/>
                <a:sym typeface="DFKai-SB"/>
              </a:rPr>
              <a:t>特教班</a:t>
            </a:r>
            <a:r>
              <a:rPr lang="en-US" altLang="zh-TW" sz="1600" dirty="0">
                <a:cs typeface="Calibri" panose="020F0502020204030204" pitchFamily="34" charset="0"/>
                <a:sym typeface="DFKai-SB"/>
              </a:rPr>
              <a:t>/</a:t>
            </a:r>
            <a:r>
              <a:rPr lang="zh-TW" altLang="en-US" sz="1600" dirty="0">
                <a:cs typeface="Calibri" panose="020F0502020204030204" pitchFamily="34" charset="0"/>
                <a:sym typeface="DFKai-SB"/>
              </a:rPr>
              <a:t>特教學校</a:t>
            </a:r>
            <a:r>
              <a:rPr lang="en-US" altLang="zh-TW" sz="1600" dirty="0">
                <a:cs typeface="Calibri" panose="020F0502020204030204" pitchFamily="34" charset="0"/>
                <a:sym typeface="DFKai-SB"/>
              </a:rPr>
              <a:t>)</a:t>
            </a:r>
            <a:r>
              <a:rPr lang="en-US" altLang="zh-TW" sz="1600" dirty="0">
                <a:solidFill>
                  <a:schemeClr val="bg1">
                    <a:lumMod val="85000"/>
                  </a:schemeClr>
                </a:solidFill>
                <a:cs typeface="Calibri" panose="020F0502020204030204" pitchFamily="34" charset="0"/>
              </a:rPr>
              <a:t> </a:t>
            </a:r>
            <a:r>
              <a:rPr lang="en-US" altLang="zh-TW" sz="1600" dirty="0">
                <a:cs typeface="Calibri" panose="020F0502020204030204" pitchFamily="34" charset="0"/>
              </a:rPr>
              <a:t>/</a:t>
            </a:r>
            <a:r>
              <a:rPr lang="zh-TW" altLang="en-US" sz="1600" dirty="0">
                <a:cs typeface="Calibri" panose="020F0502020204030204" pitchFamily="34" charset="0"/>
              </a:rPr>
              <a:t>可否就業</a:t>
            </a:r>
            <a:endParaRPr lang="en-US" altLang="zh-TW" sz="1600" dirty="0">
              <a:cs typeface="Calibri" panose="020F0502020204030204" pitchFamily="34" charset="0"/>
              <a:sym typeface="DFKai-SB"/>
            </a:endParaRPr>
          </a:p>
          <a:p>
            <a:pPr marL="228600" lvl="0" indent="-228600">
              <a:lnSpc>
                <a:spcPct val="110000"/>
              </a:lnSpc>
              <a:buSzPts val="2000"/>
              <a:buFont typeface="Noto Sans Symbols"/>
              <a:buChar char="■"/>
            </a:pPr>
            <a:r>
              <a:rPr lang="zh-TW" altLang="en-US" sz="1600" dirty="0">
                <a:cs typeface="Calibri" panose="020F0502020204030204" pitchFamily="34" charset="0"/>
                <a:sym typeface="DFKai-SB"/>
              </a:rPr>
              <a:t>疾病表現、危險因子、如何篩檢？</a:t>
            </a:r>
          </a:p>
        </p:txBody>
      </p:sp>
      <p:graphicFrame>
        <p:nvGraphicFramePr>
          <p:cNvPr id="193" name="Google Shape;193;p3"/>
          <p:cNvGraphicFramePr/>
          <p:nvPr>
            <p:extLst>
              <p:ext uri="{D42A27DB-BD31-4B8C-83A1-F6EECF244321}">
                <p14:modId xmlns:p14="http://schemas.microsoft.com/office/powerpoint/2010/main" val="3534304998"/>
              </p:ext>
            </p:extLst>
          </p:nvPr>
        </p:nvGraphicFramePr>
        <p:xfrm>
          <a:off x="271010" y="1265439"/>
          <a:ext cx="4670268" cy="5273050"/>
        </p:xfrm>
        <a:graphic>
          <a:graphicData uri="http://schemas.openxmlformats.org/drawingml/2006/table">
            <a:tbl>
              <a:tblPr>
                <a:noFill/>
                <a:tableStyleId>{68803E5C-0690-45D1-8448-BA63719BD152}</a:tableStyleId>
              </a:tblPr>
              <a:tblGrid>
                <a:gridCol w="1141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27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zh-TW" sz="2800" b="0" i="0" u="none" strike="noStrike" cap="none" dirty="0"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歷屆小兒口試考題</a:t>
                      </a:r>
                      <a:endParaRPr sz="1600" u="none" strike="noStrike" cap="none" dirty="0"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BBB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49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2400" b="0" u="none" strike="noStrike" cap="none" dirty="0">
                          <a:latin typeface="Calibri" panose="020F0502020204030204" pitchFamily="34" charset="0"/>
                          <a:ea typeface="微軟正黑體"/>
                          <a:cs typeface="Calibri" panose="020F0502020204030204" pitchFamily="34" charset="0"/>
                          <a:sym typeface="Calibri"/>
                        </a:rPr>
                        <a:t>114</a:t>
                      </a:r>
                      <a:endParaRPr altLang="en-US" sz="2400" b="0" u="none" strike="noStrike" cap="none" dirty="0">
                        <a:latin typeface="Calibri" panose="020F0502020204030204" pitchFamily="34" charset="0"/>
                        <a:ea typeface="微軟正黑體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68575" marR="68575" marT="0" marB="0">
                    <a:lnL w="9524">
                      <a:solidFill>
                        <a:srgbClr val="97B853"/>
                      </a:solidFill>
                    </a:lnL>
                    <a:lnR w="9524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2400" dirty="0"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Intellectual disabilities</a:t>
                      </a:r>
                      <a:endParaRPr lang="zh-TW" altLang="en-US" sz="240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4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97B853"/>
                      </a:solidFill>
                    </a:lnR>
                    <a:lnT w="9524">
                      <a:solidFill>
                        <a:srgbClr val="97B853"/>
                      </a:solidFill>
                    </a:lnT>
                    <a:lnB w="9524" cap="flat" cmpd="sng" algn="ctr">
                      <a:solidFill>
                        <a:srgbClr val="97B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049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2400" b="0" u="none" strike="noStrike" cap="none" dirty="0">
                          <a:latin typeface="Calibri" panose="020F0502020204030204" pitchFamily="34" charset="0"/>
                          <a:ea typeface="微軟正黑體"/>
                          <a:cs typeface="Calibri" panose="020F0502020204030204" pitchFamily="34" charset="0"/>
                        </a:rPr>
                        <a:t>113</a:t>
                      </a:r>
                      <a:endParaRPr altLang="en-US" sz="2400" b="0" u="none" strike="noStrike" cap="none" dirty="0">
                        <a:latin typeface="Calibri" panose="020F0502020204030204" pitchFamily="34" charset="0"/>
                        <a:ea typeface="微軟正黑體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68575" marR="68575" marT="0" marB="0">
                    <a:lnL w="9524">
                      <a:solidFill>
                        <a:srgbClr val="97B853"/>
                      </a:solidFill>
                    </a:lnL>
                    <a:lnR w="9524">
                      <a:solidFill>
                        <a:srgbClr val="000000">
                          <a:alpha val="0"/>
                        </a:srgbClr>
                      </a:solidFill>
                    </a:lnR>
                    <a:lnT w="9525" cap="flat" cmpd="sng" algn="ctr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97B85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2400" b="0" i="0" u="none" strike="noStrike" cap="none" noProof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Microsoft JhengHei"/>
                          <a:cs typeface="Calibri" panose="020F0502020204030204" pitchFamily="34" charset="0"/>
                        </a:rPr>
                        <a:t>Cerebral</a:t>
                      </a:r>
                      <a:r>
                        <a:rPr lang="zh-TW" altLang="en-US" sz="2400" b="0" i="0" u="none" strike="noStrike" cap="none" noProof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Microsoft JhengHei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TW" sz="2400" b="0" i="0" u="none" strike="noStrike" cap="none" noProof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Microsoft JhengHei"/>
                          <a:cs typeface="Calibri" panose="020F0502020204030204" pitchFamily="34" charset="0"/>
                        </a:rPr>
                        <a:t>palsy</a:t>
                      </a:r>
                      <a:endParaRPr lang="zh-TW" altLang="en-US" sz="240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4">
                      <a:solidFill>
                        <a:srgbClr val="000000">
                          <a:alpha val="0"/>
                        </a:srgbClr>
                      </a:solidFill>
                    </a:lnL>
                    <a:lnR w="9524">
                      <a:solidFill>
                        <a:srgbClr val="97B853"/>
                      </a:solidFill>
                    </a:lnR>
                    <a:lnT w="9524">
                      <a:solidFill>
                        <a:srgbClr val="97B853"/>
                      </a:solidFill>
                    </a:lnT>
                    <a:lnB w="9524">
                      <a:solidFill>
                        <a:srgbClr val="97B853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5391639"/>
                  </a:ext>
                </a:extLst>
              </a:tr>
              <a:tr h="30049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altLang="zh-TW" sz="2400" b="0" u="none" strike="noStrike" cap="none" dirty="0"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  <a:sym typeface="Calibri"/>
                        </a:rPr>
                        <a:t>112</a:t>
                      </a:r>
                      <a:r>
                        <a:rPr lang="zh-TW" altLang="en-US" sz="2400" b="0" u="none" strike="noStrike" cap="none" dirty="0"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  <a:sym typeface="Calibri"/>
                        </a:rPr>
                        <a:t>                </a:t>
                      </a:r>
                      <a:endParaRPr sz="2400" b="0" u="none" strike="noStrike" cap="none" dirty="0"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4" cap="flat" cmpd="sng" algn="ctr">
                      <a:solidFill>
                        <a:srgbClr val="97B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altLang="zh-TW" sz="2400" b="0" u="none" strike="noStrike" cap="none" dirty="0">
                          <a:solidFill>
                            <a:srgbClr val="000000"/>
                          </a:solidFill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  <a:sym typeface="Arial"/>
                        </a:rPr>
                        <a:t>Autism spectrum disorder</a:t>
                      </a:r>
                      <a:endParaRPr sz="2400" b="0" u="none" strike="noStrike" cap="none" dirty="0">
                        <a:solidFill>
                          <a:srgbClr val="000000"/>
                        </a:solidFill>
                        <a:highlight>
                          <a:srgbClr val="00FFFF"/>
                        </a:highlight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4" cap="flat" cmpd="sng" algn="ctr">
                      <a:solidFill>
                        <a:srgbClr val="97B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064962"/>
                  </a:ext>
                </a:extLst>
              </a:tr>
              <a:tr h="30049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2400" b="0" u="none" strike="noStrike" cap="none" dirty="0"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  <a:sym typeface="Calibri"/>
                        </a:rPr>
                        <a:t>111</a:t>
                      </a:r>
                      <a:endParaRPr sz="2400" b="0" u="none" strike="noStrike" cap="none" dirty="0"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2400" b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  <a:sym typeface="Arial"/>
                        </a:rPr>
                        <a:t>Spinal Muscular Atrophy</a:t>
                      </a:r>
                      <a:endParaRPr sz="2400" b="0" u="none" strike="noStrike" cap="none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49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2400" b="0" u="none" strike="noStrike" cap="none" dirty="0"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  <a:sym typeface="Calibri"/>
                        </a:rPr>
                        <a:t>110</a:t>
                      </a:r>
                      <a:endParaRPr sz="2400" b="0" u="none" strike="noStrike" cap="none" dirty="0"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2400" b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  <a:sym typeface="Arial"/>
                        </a:rPr>
                        <a:t>X</a:t>
                      </a:r>
                      <a:endParaRPr sz="2400" b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49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2400" b="0" u="none" strike="noStrike" cap="none" dirty="0"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109</a:t>
                      </a:r>
                      <a:endParaRPr sz="2400" b="0" u="none" strike="noStrike" cap="none" dirty="0"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2400" b="0" u="none" strike="noStrike" cap="none" dirty="0">
                          <a:solidFill>
                            <a:srgbClr val="000000"/>
                          </a:solidFill>
                          <a:highlight>
                            <a:srgbClr val="FFD85B"/>
                          </a:highlight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  <a:sym typeface="Arial"/>
                        </a:rPr>
                        <a:t>Meningomyelocele</a:t>
                      </a:r>
                      <a:endParaRPr sz="2400" b="0" u="none" strike="noStrike" cap="none" dirty="0">
                        <a:solidFill>
                          <a:srgbClr val="000000"/>
                        </a:solidFill>
                        <a:highlight>
                          <a:srgbClr val="FFD85B"/>
                        </a:highlight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49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2400" b="0" u="none" strike="noStrike" cap="none" dirty="0"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108</a:t>
                      </a:r>
                      <a:endParaRPr sz="2400" b="0" u="none" strike="noStrike" cap="none" dirty="0"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2400" b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  <a:sym typeface="Arial"/>
                        </a:rPr>
                        <a:t>Cerebral palsy</a:t>
                      </a:r>
                      <a:endParaRPr sz="2400" b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49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2400" b="0" u="none" strike="noStrike" cap="none" dirty="0"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107 </a:t>
                      </a:r>
                      <a:endParaRPr sz="2400" b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2400" b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  <a:sym typeface="Arial"/>
                        </a:rPr>
                        <a:t>Cerebral palsy</a:t>
                      </a:r>
                      <a:endParaRPr sz="2400" b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49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2400" b="0" u="none" strike="noStrike" cap="none" dirty="0"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106 </a:t>
                      </a:r>
                      <a:endParaRPr sz="2400" b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2400" b="0" u="none" strike="noStrike" cap="none" dirty="0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  <a:sym typeface="Arial"/>
                        </a:rPr>
                        <a:t>Fragile X syndrome</a:t>
                      </a:r>
                      <a:endParaRPr sz="2400" b="0" u="none" strike="noStrike" cap="none" dirty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49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2400" b="0" u="none" strike="noStrike" cap="none" dirty="0"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105 </a:t>
                      </a:r>
                      <a:endParaRPr sz="2400" b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2400" b="0" u="none" strike="noStrike" cap="none" dirty="0">
                          <a:solidFill>
                            <a:srgbClr val="000000"/>
                          </a:solidFill>
                          <a:highlight>
                            <a:srgbClr val="C0C0C0"/>
                          </a:highlight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  <a:sym typeface="Arial"/>
                        </a:rPr>
                        <a:t>Down syndrome</a:t>
                      </a:r>
                      <a:endParaRPr sz="2400" b="0" u="none" strike="noStrike" cap="none" dirty="0">
                        <a:solidFill>
                          <a:srgbClr val="000000"/>
                        </a:solidFill>
                        <a:highlight>
                          <a:srgbClr val="C0C0C0"/>
                        </a:highlight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49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2400" b="0" u="none" strike="noStrike" cap="none" dirty="0"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104 </a:t>
                      </a:r>
                      <a:endParaRPr sz="2400" b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2400" b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  <a:sym typeface="Arial"/>
                        </a:rPr>
                        <a:t>Cerebral palsy</a:t>
                      </a:r>
                      <a:endParaRPr sz="2400" b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49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2400" b="0" u="none" strike="noStrike" cap="none" dirty="0"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103 </a:t>
                      </a:r>
                      <a:endParaRPr sz="2400" b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2400" b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  <a:sym typeface="Arial"/>
                        </a:rPr>
                        <a:t>Cerebral palsy</a:t>
                      </a:r>
                      <a:endParaRPr sz="2400" b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49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2400" b="0" u="none" strike="noStrike" cap="none" dirty="0"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102 </a:t>
                      </a:r>
                      <a:endParaRPr sz="2400" b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2400" b="0" u="none" strike="noStrike" cap="none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  <a:sym typeface="Arial"/>
                        </a:rPr>
                        <a:t>Cerebral palsy</a:t>
                      </a:r>
                      <a:endParaRPr sz="2400" b="0" u="none" strike="noStrike" cap="none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 dirty="0"/>
              <a:t>整理歷屆考題的年齡</a:t>
            </a:r>
            <a:endParaRPr u="sng" dirty="0"/>
          </a:p>
        </p:txBody>
      </p:sp>
      <p:sp>
        <p:nvSpPr>
          <p:cNvPr id="399" name="Google Shape;399;p26"/>
          <p:cNvSpPr txBox="1">
            <a:spLocks noGrp="1"/>
          </p:cNvSpPr>
          <p:nvPr>
            <p:ph type="body" idx="1"/>
          </p:nvPr>
        </p:nvSpPr>
        <p:spPr>
          <a:xfrm>
            <a:off x="4181998" y="1500868"/>
            <a:ext cx="6059281" cy="960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ts val="2800"/>
              <a:buNone/>
            </a:pPr>
            <a:r>
              <a:rPr lang="en-US" altLang="zh-TW" sz="2400" dirty="0">
                <a:cs typeface="Calibri" panose="020F0502020204030204" pitchFamily="34" charset="0"/>
              </a:rPr>
              <a:t>111-113</a:t>
            </a:r>
            <a:r>
              <a:rPr lang="zh-TW" altLang="en-US" sz="2400" dirty="0">
                <a:cs typeface="Calibri" panose="020F0502020204030204" pitchFamily="34" charset="0"/>
              </a:rPr>
              <a:t>考</a:t>
            </a:r>
            <a:r>
              <a:rPr lang="en-US" altLang="zh-TW" sz="2400" b="1" dirty="0">
                <a:solidFill>
                  <a:srgbClr val="FF0000"/>
                </a:solidFill>
                <a:cs typeface="Calibri" panose="020F0502020204030204" pitchFamily="34" charset="0"/>
              </a:rPr>
              <a:t>2</a:t>
            </a:r>
            <a:r>
              <a:rPr lang="zh-TW" altLang="en-US" sz="2400" b="1" dirty="0">
                <a:solidFill>
                  <a:srgbClr val="FF0000"/>
                </a:solidFill>
                <a:cs typeface="Calibri" panose="020F0502020204030204" pitchFamily="34" charset="0"/>
              </a:rPr>
              <a:t>歲</a:t>
            </a:r>
            <a:r>
              <a:rPr lang="zh-TW" altLang="en-US" sz="2400" dirty="0">
                <a:cs typeface="Calibri" panose="020F0502020204030204" pitchFamily="34" charset="0"/>
              </a:rPr>
              <a:t>左右</a:t>
            </a:r>
            <a:r>
              <a:rPr lang="en-US" altLang="zh-TW" sz="2400" dirty="0">
                <a:cs typeface="Calibri" panose="020F0502020204030204" pitchFamily="34" charset="0"/>
              </a:rPr>
              <a:t>milestone</a:t>
            </a:r>
            <a:r>
              <a:rPr lang="zh-TW" altLang="en-US" sz="2400" dirty="0">
                <a:cs typeface="Calibri" panose="020F0502020204030204" pitchFamily="34" charset="0"/>
              </a:rPr>
              <a:t>。</a:t>
            </a:r>
            <a:endParaRPr lang="en-US" altLang="zh-TW" sz="2400" dirty="0">
              <a:cs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SzPts val="2800"/>
              <a:buNone/>
            </a:pPr>
            <a:r>
              <a:rPr lang="zh-TW" altLang="en-US" sz="2400" dirty="0">
                <a:cs typeface="Calibri" panose="020F0502020204030204" pitchFamily="34" charset="0"/>
              </a:rPr>
              <a:t>多年前和去年</a:t>
            </a:r>
            <a:r>
              <a:rPr lang="zh-TW" altLang="zh-TW" sz="2400" dirty="0">
                <a:cs typeface="Calibri" panose="020F0502020204030204" pitchFamily="34" charset="0"/>
              </a:rPr>
              <a:t>著重在</a:t>
            </a:r>
            <a:r>
              <a:rPr lang="zh-TW" altLang="zh-TW" sz="2400" b="1" dirty="0">
                <a:solidFill>
                  <a:srgbClr val="FF0000"/>
                </a:solidFill>
                <a:cs typeface="Calibri" panose="020F0502020204030204" pitchFamily="34" charset="0"/>
              </a:rPr>
              <a:t>4-5歲</a:t>
            </a:r>
            <a:r>
              <a:rPr lang="zh-TW" altLang="zh-TW" sz="2400" dirty="0">
                <a:cs typeface="Calibri" panose="020F0502020204030204" pitchFamily="34" charset="0"/>
              </a:rPr>
              <a:t>milestone</a:t>
            </a:r>
            <a:r>
              <a:rPr lang="zh-TW" altLang="en-US" sz="2400" dirty="0">
                <a:cs typeface="Calibri" panose="020F0502020204030204" pitchFamily="34" charset="0"/>
              </a:rPr>
              <a:t>，</a:t>
            </a:r>
            <a:endParaRPr lang="en-US" altLang="zh-TW" sz="2400" dirty="0"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>
              <a:cs typeface="Calibri" panose="020F0502020204030204" pitchFamily="34" charset="0"/>
            </a:endParaRPr>
          </a:p>
        </p:txBody>
      </p:sp>
      <p:graphicFrame>
        <p:nvGraphicFramePr>
          <p:cNvPr id="400" name="Google Shape;400;p26"/>
          <p:cNvGraphicFramePr/>
          <p:nvPr>
            <p:extLst>
              <p:ext uri="{D42A27DB-BD31-4B8C-83A1-F6EECF244321}">
                <p14:modId xmlns:p14="http://schemas.microsoft.com/office/powerpoint/2010/main" val="1184078732"/>
              </p:ext>
            </p:extLst>
          </p:nvPr>
        </p:nvGraphicFramePr>
        <p:xfrm>
          <a:off x="1109382" y="1400727"/>
          <a:ext cx="2801436" cy="5013927"/>
        </p:xfrm>
        <a:graphic>
          <a:graphicData uri="http://schemas.openxmlformats.org/drawingml/2006/table">
            <a:tbl>
              <a:tblPr>
                <a:noFill/>
                <a:tableStyleId>{68803E5C-0690-45D1-8448-BA63719BD152}</a:tableStyleId>
              </a:tblPr>
              <a:tblGrid>
                <a:gridCol w="1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4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423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0" i="0" u="none" strike="noStrike" cap="none" dirty="0">
                          <a:latin typeface="Abadi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歷屆小兒口試考題</a:t>
                      </a:r>
                      <a:endParaRPr sz="1800" b="0" i="0" u="none" strike="noStrike" cap="none" dirty="0">
                        <a:latin typeface="Abadi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BBB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8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altLang="zh-TW" sz="1800" b="0" i="0" u="none" strike="noStrike" cap="none" dirty="0">
                          <a:solidFill>
                            <a:srgbClr val="000000"/>
                          </a:solidFill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114</a:t>
                      </a:r>
                      <a:endParaRPr lang="en-US" sz="1800" b="0" i="0" u="none" strike="noStrike" cap="none" dirty="0">
                        <a:solidFill>
                          <a:srgbClr val="000000"/>
                        </a:solidFill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4">
                      <a:solidFill>
                        <a:srgbClr val="97B853"/>
                      </a:solidFill>
                    </a:lnL>
                    <a:lnR w="9524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altLang="zh-TW" sz="1800" b="0" i="0" u="none" strike="noStrike" cap="none" dirty="0">
                          <a:solidFill>
                            <a:srgbClr val="000000"/>
                          </a:solidFill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5</a:t>
                      </a:r>
                      <a:r>
                        <a:rPr lang="zh-TW" altLang="en-US" sz="1800" b="0" i="0" u="none" strike="noStrike" cap="none" dirty="0">
                          <a:solidFill>
                            <a:srgbClr val="000000"/>
                          </a:solidFill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歲</a:t>
                      </a:r>
                    </a:p>
                  </a:txBody>
                  <a:tcPr marL="68575" marR="68575" marT="0" marB="0">
                    <a:lnL w="9524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97B853"/>
                      </a:solidFill>
                    </a:lnR>
                    <a:lnT w="9524">
                      <a:solidFill>
                        <a:srgbClr val="97B853"/>
                      </a:solidFill>
                    </a:lnT>
                    <a:lnB w="9524" cap="flat" cmpd="sng" algn="ctr">
                      <a:solidFill>
                        <a:srgbClr val="97B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980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highlight>
                            <a:srgbClr val="FFFF00"/>
                          </a:highlight>
                          <a:latin typeface="Abadi"/>
                          <a:ea typeface="Arial"/>
                          <a:cs typeface="Calibri" panose="020F0502020204030204" pitchFamily="34" charset="0"/>
                        </a:rPr>
                        <a:t>113</a:t>
                      </a:r>
                      <a:endParaRPr lang="en-US" sz="1800" b="0" i="0" u="none" strike="noStrike" cap="none" dirty="0">
                        <a:highlight>
                          <a:srgbClr val="FFFF00"/>
                        </a:highlight>
                        <a:latin typeface="Abadi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4">
                      <a:solidFill>
                        <a:srgbClr val="97B853"/>
                      </a:solidFill>
                    </a:lnL>
                    <a:lnR w="9524">
                      <a:solidFill>
                        <a:srgbClr val="000000">
                          <a:alpha val="0"/>
                        </a:srgbClr>
                      </a:solidFill>
                    </a:lnR>
                    <a:lnT w="9525" cap="flat" cmpd="sng" algn="ctr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97B85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0" i="0" u="none" strike="noStrike" cap="none" noProof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badi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zh-TW" sz="1800" b="0" i="0" u="none" strike="noStrike" cap="none" noProof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badi"/>
                        </a:rPr>
                        <a:t>歲</a:t>
                      </a:r>
                      <a:endParaRPr dirty="0">
                        <a:sym typeface="Arial"/>
                      </a:endParaRPr>
                    </a:p>
                  </a:txBody>
                  <a:tcPr marL="68575" marR="68575" marT="0" marB="0">
                    <a:lnL w="9524">
                      <a:solidFill>
                        <a:srgbClr val="000000">
                          <a:alpha val="0"/>
                        </a:srgbClr>
                      </a:solidFill>
                    </a:lnL>
                    <a:lnR w="9524">
                      <a:solidFill>
                        <a:srgbClr val="97B853"/>
                      </a:solidFill>
                    </a:lnR>
                    <a:lnT w="9524">
                      <a:solidFill>
                        <a:srgbClr val="97B853"/>
                      </a:solidFill>
                    </a:lnT>
                    <a:lnB w="9524">
                      <a:solidFill>
                        <a:srgbClr val="97B853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1207934"/>
                  </a:ext>
                </a:extLst>
              </a:tr>
              <a:tr h="3498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highlight>
                            <a:srgbClr val="FFFF00"/>
                          </a:highlight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112</a:t>
                      </a:r>
                      <a:endParaRPr sz="1800" b="0" i="0" u="none" strike="noStrike" cap="none" dirty="0">
                        <a:highlight>
                          <a:srgbClr val="FFFF00"/>
                        </a:highlight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4" cap="flat" cmpd="sng" algn="ctr">
                      <a:solidFill>
                        <a:srgbClr val="97B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altLang="zh-TW" sz="1800" b="0" i="0" u="none" strike="noStrike" cap="none" dirty="0">
                          <a:highlight>
                            <a:srgbClr val="FFFF00"/>
                          </a:highlight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2</a:t>
                      </a:r>
                      <a:r>
                        <a:rPr lang="zh-TW" altLang="en-US" sz="1800" b="0" i="0" u="none" strike="noStrike" cap="none" dirty="0">
                          <a:highlight>
                            <a:srgbClr val="FFFF00"/>
                          </a:highlight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歲</a:t>
                      </a:r>
                      <a:endParaRPr sz="1800" b="0" i="0" u="none" strike="noStrike" cap="none" dirty="0">
                        <a:highlight>
                          <a:srgbClr val="FFFF00"/>
                        </a:highlight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4" cap="flat" cmpd="sng" algn="ctr">
                      <a:solidFill>
                        <a:srgbClr val="97B8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3327836"/>
                  </a:ext>
                </a:extLst>
              </a:tr>
              <a:tr h="3498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0" i="0" u="none" strike="noStrike" cap="none" dirty="0">
                          <a:highlight>
                            <a:srgbClr val="FFFF00"/>
                          </a:highlight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111</a:t>
                      </a:r>
                      <a:endParaRPr sz="1800" b="0" i="0" u="none" strike="noStrike" cap="none" dirty="0">
                        <a:highlight>
                          <a:srgbClr val="FFFF00"/>
                        </a:highlight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0" i="0" u="none" strike="noStrike" cap="none" dirty="0">
                          <a:highlight>
                            <a:srgbClr val="FFFF00"/>
                          </a:highlight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1歲6個月</a:t>
                      </a:r>
                      <a:endParaRPr sz="1800" b="0" i="0" u="none" strike="noStrike" cap="none" dirty="0">
                        <a:highlight>
                          <a:srgbClr val="FFFF00"/>
                        </a:highlight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8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0" i="0" u="none" strike="noStrike" cap="none" dirty="0"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110</a:t>
                      </a:r>
                      <a:endParaRPr sz="1800" b="0" i="0" u="none" strike="noStrike" cap="none" dirty="0"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0" i="0" u="none" strike="noStrike" cap="none" dirty="0"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</a:t>
                      </a:r>
                      <a:endParaRPr sz="1800" b="0" i="0" u="none" strike="noStrike" cap="none" dirty="0"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8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0" i="0" u="none" strike="noStrike" cap="none" dirty="0"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109</a:t>
                      </a:r>
                      <a:endParaRPr sz="1800" b="0" i="0" u="none" strike="noStrike" cap="none" dirty="0"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0" i="0" u="none" strike="noStrike" cap="none" dirty="0">
                          <a:solidFill>
                            <a:srgbClr val="000000"/>
                          </a:solidFill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5歲6個月</a:t>
                      </a:r>
                      <a:endParaRPr sz="1800" b="0" i="0" u="none" strike="noStrike" cap="none" dirty="0"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8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0" i="0" u="none" strike="noStrike" cap="none" dirty="0"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108</a:t>
                      </a:r>
                      <a:endParaRPr sz="1800" b="0" i="0" u="none" strike="noStrike" cap="none" dirty="0"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0" i="0" u="none" strike="noStrike" cap="none" dirty="0">
                          <a:solidFill>
                            <a:srgbClr val="000000"/>
                          </a:solidFill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5歲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8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0" i="0" u="none" strike="noStrike" cap="none" dirty="0"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107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0" i="0" u="none" strike="noStrike" cap="none" dirty="0">
                          <a:solidFill>
                            <a:srgbClr val="000000"/>
                          </a:solidFill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4歲6個月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8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0" i="0" u="none" strike="noStrike" cap="none" dirty="0"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106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0" i="0" u="none" strike="noStrike" cap="none" dirty="0">
                          <a:solidFill>
                            <a:srgbClr val="000000"/>
                          </a:solidFill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4歲2個月</a:t>
                      </a:r>
                      <a:endParaRPr sz="1800" b="0" i="0" u="none" strike="noStrike" cap="none" dirty="0"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8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0" i="0" u="none" strike="noStrike" cap="none" dirty="0"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105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0" i="0" u="none" strike="noStrike" cap="none" dirty="0">
                          <a:solidFill>
                            <a:srgbClr val="000000"/>
                          </a:solidFill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5歲8個月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8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0" i="0" u="none" strike="noStrike" cap="none" dirty="0">
                          <a:highlight>
                            <a:srgbClr val="FFFF00"/>
                          </a:highlight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104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3歲2個月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8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0" i="0" u="none" strike="noStrike" cap="none" dirty="0"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103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0" i="0" u="none" strike="noStrike" cap="none" dirty="0">
                          <a:solidFill>
                            <a:srgbClr val="000000"/>
                          </a:solidFill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4歲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8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0" i="0" u="none" strike="noStrike" cap="none" dirty="0"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102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zh-TW" sz="1800" b="0" i="0" u="none" strike="noStrike" cap="none" dirty="0">
                          <a:solidFill>
                            <a:srgbClr val="000000"/>
                          </a:solidFill>
                          <a:latin typeface="Abadi" panose="020B060402010402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4歲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badi" panose="020B060402010402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85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66502"/>
              </p:ext>
            </p:extLst>
          </p:nvPr>
        </p:nvGraphicFramePr>
        <p:xfrm>
          <a:off x="4181999" y="3495343"/>
          <a:ext cx="7528619" cy="2869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517">
                  <a:extLst>
                    <a:ext uri="{9D8B030D-6E8A-4147-A177-3AD203B41FA5}">
                      <a16:colId xmlns:a16="http://schemas.microsoft.com/office/drawing/2014/main" val="2657272544"/>
                    </a:ext>
                  </a:extLst>
                </a:gridCol>
                <a:gridCol w="1075517">
                  <a:extLst>
                    <a:ext uri="{9D8B030D-6E8A-4147-A177-3AD203B41FA5}">
                      <a16:colId xmlns:a16="http://schemas.microsoft.com/office/drawing/2014/main" val="500859343"/>
                    </a:ext>
                  </a:extLst>
                </a:gridCol>
                <a:gridCol w="1075517">
                  <a:extLst>
                    <a:ext uri="{9D8B030D-6E8A-4147-A177-3AD203B41FA5}">
                      <a16:colId xmlns:a16="http://schemas.microsoft.com/office/drawing/2014/main" val="3859054515"/>
                    </a:ext>
                  </a:extLst>
                </a:gridCol>
                <a:gridCol w="1075517">
                  <a:extLst>
                    <a:ext uri="{9D8B030D-6E8A-4147-A177-3AD203B41FA5}">
                      <a16:colId xmlns:a16="http://schemas.microsoft.com/office/drawing/2014/main" val="4105782208"/>
                    </a:ext>
                  </a:extLst>
                </a:gridCol>
                <a:gridCol w="1075517">
                  <a:extLst>
                    <a:ext uri="{9D8B030D-6E8A-4147-A177-3AD203B41FA5}">
                      <a16:colId xmlns:a16="http://schemas.microsoft.com/office/drawing/2014/main" val="2040558665"/>
                    </a:ext>
                  </a:extLst>
                </a:gridCol>
                <a:gridCol w="1075517">
                  <a:extLst>
                    <a:ext uri="{9D8B030D-6E8A-4147-A177-3AD203B41FA5}">
                      <a16:colId xmlns:a16="http://schemas.microsoft.com/office/drawing/2014/main" val="2500311328"/>
                    </a:ext>
                  </a:extLst>
                </a:gridCol>
                <a:gridCol w="1075517">
                  <a:extLst>
                    <a:ext uri="{9D8B030D-6E8A-4147-A177-3AD203B41FA5}">
                      <a16:colId xmlns:a16="http://schemas.microsoft.com/office/drawing/2014/main" val="1070907153"/>
                    </a:ext>
                  </a:extLst>
                </a:gridCol>
              </a:tblGrid>
              <a:tr h="248769">
                <a:tc>
                  <a:txBody>
                    <a:bodyPr/>
                    <a:lstStyle/>
                    <a:p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GM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FM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Speech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認知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social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ADL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315063"/>
                  </a:ext>
                </a:extLst>
              </a:tr>
              <a:tr h="847329"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114 (5Y2M)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說話句子不完整，只會講單詞，不成句，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只能聽懂簡單指令</a:t>
                      </a:r>
                    </a:p>
                    <a:p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需穿尿布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601267"/>
                  </a:ext>
                </a:extLst>
              </a:tr>
              <a:tr h="597046"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113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(2Y)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不會抬頭不會翻身</a:t>
                      </a:r>
                      <a:endParaRPr lang="en-US" altLang="zh-TW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r>
                        <a:rPr lang="zh-TW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ATNR還在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抓握想抓但抓不到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語言只會cooing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喝奶100cc要喝一個小時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0402106"/>
                  </a:ext>
                </a:extLst>
              </a:tr>
              <a:tr h="248769"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112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(2Y)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講話慢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618128"/>
                  </a:ext>
                </a:extLst>
              </a:tr>
              <a:tr h="583716"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106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(4Y)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sz="14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  <a:sym typeface="Arial"/>
                        </a:rPr>
                        <a:t>無法對話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sz="14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  <a:sym typeface="Arial"/>
                        </a:rPr>
                        <a:t>只能聽懂簡單指令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sz="14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  <a:sym typeface="Arial"/>
                        </a:rPr>
                        <a:t>互動性差，有固著行為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681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4986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4E711-1E26-FB8A-B9F5-58498B3B1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38A148-9A9B-9854-ADC3-84C3AAA14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300" dirty="0">
                <a:cs typeface="Calibri" panose="020F0502020204030204" pitchFamily="34" charset="0"/>
              </a:rPr>
              <a:t>114</a:t>
            </a:r>
            <a:endParaRPr lang="zh-TW" altLang="en-US" sz="4300" dirty="0">
              <a:cs typeface="Calibri" panose="020F0502020204030204" pitchFamily="34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87EB97E2-FCEF-DCCB-7519-A94D397CDAE3}"/>
              </a:ext>
            </a:extLst>
          </p:cNvPr>
          <p:cNvSpPr txBox="1">
            <a:spLocks/>
          </p:cNvSpPr>
          <p:nvPr/>
        </p:nvSpPr>
        <p:spPr>
          <a:xfrm>
            <a:off x="701285" y="1607485"/>
            <a:ext cx="10961980" cy="4989062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第一頁：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5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歲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2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個月、男童，說話句子不完整，只會講單詞，不成句，只能聽懂簡單指令，（白天）仍需穿尿布，幼稚園生活適應困難</a:t>
            </a:r>
          </a:p>
          <a:p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病史詢問可問哪些重點？</a:t>
            </a:r>
          </a:p>
          <a:p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目前表現較接近幾歲的發展水準？</a:t>
            </a:r>
          </a:p>
          <a:p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後續應安排哪些檢查？</a:t>
            </a:r>
            <a:endParaRPr lang="en-US" altLang="zh-TW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endParaRPr lang="zh-TW" altLang="en-US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第二頁：給各種評估量表結果，有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WPPSI 47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分（中度智能障礙），其他多個領域都有發展遲緩（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PDMS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粗大動作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PR 1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、精細動作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PR 3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；語言理解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PR 1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、表達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PR 3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）</a:t>
            </a:r>
          </a:p>
          <a:p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功能性診斷是什麼？</a:t>
            </a:r>
          </a:p>
          <a:p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可能的鑑別診斷為何？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ICD-10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代碼？（需要注意病人是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5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歲以上）</a:t>
            </a:r>
          </a:p>
          <a:p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是否可申請身心障礙手冊？什麼等級？</a:t>
            </a:r>
          </a:p>
          <a:p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如何安排復健？</a:t>
            </a:r>
          </a:p>
          <a:p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之後準備要上小學，入學鑑定安置怎麼做？申請緩讀？</a:t>
            </a:r>
          </a:p>
          <a:p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預測長大後的獨立生活功能？就業能力？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61F8588-E0F5-560F-236F-582A46E7E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39718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4E711-1E26-FB8A-B9F5-58498B3B1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38A148-9A9B-9854-ADC3-84C3AAA14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300" dirty="0">
                <a:cs typeface="Calibri" panose="020F0502020204030204" pitchFamily="34" charset="0"/>
              </a:rPr>
              <a:t>114</a:t>
            </a:r>
            <a:endParaRPr lang="zh-TW" altLang="en-US" sz="4300" dirty="0">
              <a:cs typeface="Calibri" panose="020F0502020204030204" pitchFamily="34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87EB97E2-FCEF-DCCB-7519-A94D397CDAE3}"/>
              </a:ext>
            </a:extLst>
          </p:cNvPr>
          <p:cNvSpPr txBox="1">
            <a:spLocks/>
          </p:cNvSpPr>
          <p:nvPr/>
        </p:nvSpPr>
        <p:spPr>
          <a:xfrm>
            <a:off x="701285" y="1607485"/>
            <a:ext cx="10961980" cy="4989062"/>
          </a:xfrm>
          <a:prstGeom prst="rect">
            <a:avLst/>
          </a:prstGeom>
        </p:spPr>
        <p:txBody>
          <a:bodyPr lIns="91440" tIns="45720" rIns="91440" bIns="45720" anchor="t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第一頁：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5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歲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2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個月、男童，說話句子不完整，只會講單詞，不成句，只能聽懂簡單指令，（白天）仍需穿尿布，幼稚園生活適應困難</a:t>
            </a:r>
          </a:p>
          <a:p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病史詢問可問哪些重點？</a:t>
            </a:r>
            <a:endParaRPr lang="en-US" altLang="zh-TW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懷孕史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高齡產婦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感染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重金屬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藥物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毒品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外傷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子宮胎盤功能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)/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生產史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早產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低體重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胎兒窘迫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臍帶繞頸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胎便吸入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先天異常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)/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早期發展史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是否遲緩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遲滯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退步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)/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醫療病史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感染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黃疸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外傷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腦膜炎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癲癇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)/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神經系統與感官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聽力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視力篩檢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)/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家族史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發展遲緩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智能障礙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,ASD,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遺傳疾病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)/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家庭功能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主要照顧者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照顧方式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兄弟姊妹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社經狀況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 /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動作發展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異常反射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張力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坐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站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走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爬樓梯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跑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跳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抓握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湯匙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積木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筆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剪刀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 /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語言發展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對聲音反應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理解力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,pointing,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仿說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,first word,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詞彙量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 phase or sentence,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構音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溝通意圖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,QA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適切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 /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認知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身體部位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顏色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形狀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數數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遊戲型態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: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功能性玩具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假扮遊戲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)/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社交互動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(EC,JA,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學校表現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: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同儕玩或自己玩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固著行為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重複行為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坐不住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</a:p>
          <a:p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目前表現較接近幾歲的發展水準？</a:t>
            </a:r>
            <a:r>
              <a:rPr lang="zh-TW" altLang="en-US" sz="19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9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9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有時候考官會反過來問，</a:t>
            </a:r>
            <a:r>
              <a:rPr lang="zh-TW" altLang="en-US" sz="19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五歲小孩在各領域應該要達到那些表現</a:t>
            </a:r>
            <a:r>
              <a:rPr lang="en-US" altLang="zh-TW" sz="19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?)</a:t>
            </a:r>
          </a:p>
          <a:p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語言發展： 只會單詞、不成句 → 約 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1.5-2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歲語言（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2 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歲應能講短句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兩個字的句子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，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1 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歲半會講單詞）</a:t>
            </a:r>
            <a:endParaRPr lang="en-US" altLang="zh-TW" sz="1900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認知發展： 能聽簡單指令 → 約 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2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歲</a:t>
            </a:r>
            <a:endParaRPr lang="en-US" altLang="zh-TW" sz="1900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生活自理：只白天未戒尿布 → 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&lt;3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歲（一般孩子多在 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2-3 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歲完成日間如廁訓練）。</a:t>
            </a:r>
          </a:p>
          <a:p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整體發展年齡約 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2–3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歲水準</a:t>
            </a:r>
            <a:endParaRPr lang="zh-TW" altLang="en-US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後續應安排哪些檢查？</a:t>
            </a:r>
            <a:endParaRPr lang="en-US" altLang="zh-TW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心理衡鑑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(WPPSI,), 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聽力檢查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自閉症評估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(ADOS, ADI-R, CARS),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神經學檢查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: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腦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MRI(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結構異常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),EEG(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癲癇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遺傳檢查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染色體核型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唐氏症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微陣列分析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(CMA), Fragile X,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代謝篩檢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兒童發展聯合評估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小兒神經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復健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兒童心智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</a:p>
          <a:p>
            <a:endParaRPr lang="en-US" altLang="zh-TW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endParaRPr lang="zh-TW" altLang="en-US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61F8588-E0F5-560F-236F-582A46E7E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73294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4E711-1E26-FB8A-B9F5-58498B3B1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38A148-9A9B-9854-ADC3-84C3AAA14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300" dirty="0">
                <a:cs typeface="Calibri" panose="020F0502020204030204" pitchFamily="34" charset="0"/>
              </a:rPr>
              <a:t>114</a:t>
            </a:r>
            <a:endParaRPr lang="zh-TW" altLang="en-US" sz="4300" dirty="0">
              <a:cs typeface="Calibri" panose="020F0502020204030204" pitchFamily="34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87EB97E2-FCEF-DCCB-7519-A94D397CDAE3}"/>
              </a:ext>
            </a:extLst>
          </p:cNvPr>
          <p:cNvSpPr txBox="1">
            <a:spLocks/>
          </p:cNvSpPr>
          <p:nvPr/>
        </p:nvSpPr>
        <p:spPr>
          <a:xfrm>
            <a:off x="754039" y="1607484"/>
            <a:ext cx="10961980" cy="5250515"/>
          </a:xfrm>
          <a:prstGeom prst="rect">
            <a:avLst/>
          </a:prstGeom>
        </p:spPr>
        <p:txBody>
          <a:bodyPr lIns="91440" tIns="45720" rIns="91440" bIns="45720" anchor="t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第二頁：給各種評估量表結果，有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WPPSI 47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分（中度智能障礙），其他多個領域都有發展遲緩（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PDMS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粗大動作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PR 1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、精細動作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PR 3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；語言理解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PR 1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、表達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PR 3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）</a:t>
            </a:r>
          </a:p>
          <a:p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功能性診斷是什麼？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認知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粗大動作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精細動作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混合型語言發展遲緩</a:t>
            </a:r>
          </a:p>
          <a:p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可能的鑑別診斷為何？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ASD,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遺傳症候群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唐氏症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 Fragile X),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腦部損傷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聽力障礙</a:t>
            </a:r>
            <a:endParaRPr lang="en-US" altLang="zh-TW" sz="1900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ICD-10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代碼？（需要注意病人是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5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歲以上）</a:t>
            </a:r>
            <a:endParaRPr lang="en-US" altLang="zh-TW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F71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中度智能障礙 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(Moderate intellectual disabilities)</a:t>
            </a:r>
          </a:p>
          <a:p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F82.1 Specific developmental disorder of fine and gross motor coordination</a:t>
            </a:r>
          </a:p>
          <a:p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F80 Specific developmental disorders of speech and language</a:t>
            </a:r>
          </a:p>
          <a:p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(p.s.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F88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全面性發展遲緩 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Global Developmental Delay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指</a:t>
            </a:r>
            <a:r>
              <a:rPr lang="en-US" altLang="zh-TW" sz="1900" b="1" u="sng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5</a:t>
            </a:r>
            <a:r>
              <a:rPr lang="zh-TW" altLang="en-US" sz="1900" b="1" u="sng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歲以下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兒童在兩個或以上的發展領域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endParaRPr lang="zh-TW" altLang="en-US" sz="1900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是否可申請身心障礙手冊？什麼等級？ 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中度身心障礙 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第一類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</a:p>
          <a:p>
            <a:r>
              <a:rPr lang="zh-TW" altLang="en-US" sz="1900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如何安排復健？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PT(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粗大動作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), OT(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精細動作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感官統合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,ADL), ST(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語言理解表達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是否用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AAC), 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心理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社交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認知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endParaRPr lang="zh-TW" altLang="en-US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之後準備要上小學，入學鑑定安置怎麼做？申請緩讀？</a:t>
            </a:r>
            <a:endParaRPr lang="en-US" altLang="zh-TW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鑑定安置：準備戶口名簿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戶籍謄本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申請表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醫院資料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身心障礙證明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/6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個月內醫生診斷證明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/1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年內早療評估報告書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，透過原幼兒園或學區國小輔導室向鑑定就學輔導委員會提報，可能安置特教班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資源班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巡迴輔導。</a:t>
            </a:r>
          </a:p>
          <a:p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緩讀申請：針對適齡身心障礙或發展遲緩兒童，因健康或能力因素暫不適合入國小一年級時，經家長申請並審核通過後延後一年入學，多留一年在幼兒園進行密集早療，爭取入學前的準備時間。須檢附申請書、鑑定結果通知書及「緩讀計畫」向戶籍學區學校或教育局提出。 </a:t>
            </a:r>
            <a:endParaRPr lang="en-US" altLang="zh-TW" sz="1900" dirty="0">
              <a:solidFill>
                <a:srgbClr val="0000FF"/>
              </a:solidFill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預測長大後的獨立生活功能？就業能力？</a:t>
            </a:r>
            <a:endParaRPr lang="en-US" altLang="zh-TW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獨立生活： 成年後心智年齡約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6–9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歲，監督下自理簡單生活功能，但在財務管理、複雜社交與危機處理上需他人協助。</a:t>
            </a:r>
          </a:p>
          <a:p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就業能力： 較難在競爭性職場生存，未來多傾向於庇護性就業或支持性就業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如在教養院、庇護工場從事簡單重複性工作</a:t>
            </a:r>
            <a:r>
              <a:rPr lang="en-US" altLang="zh-TW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r>
              <a:rPr lang="zh-TW" altLang="en-US" sz="1900" dirty="0">
                <a:solidFill>
                  <a:srgbClr val="0000FF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。</a:t>
            </a:r>
            <a:endParaRPr lang="zh-TW" altLang="en-US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61F8588-E0F5-560F-236F-582A46E7E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0916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4E711-1E26-FB8A-B9F5-58498B3B1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38A148-9A9B-9854-ADC3-84C3AAA14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300" dirty="0">
                <a:cs typeface="Calibri" panose="020F0502020204030204" pitchFamily="34" charset="0"/>
              </a:rPr>
              <a:t>113</a:t>
            </a:r>
            <a:endParaRPr lang="zh-TW" altLang="en-US" sz="4300" dirty="0">
              <a:cs typeface="Calibri" panose="020F0502020204030204" pitchFamily="34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87EB97E2-FCEF-DCCB-7519-A94D397CDAE3}"/>
              </a:ext>
            </a:extLst>
          </p:cNvPr>
          <p:cNvSpPr txBox="1">
            <a:spLocks/>
          </p:cNvSpPr>
          <p:nvPr/>
        </p:nvSpPr>
        <p:spPr>
          <a:xfrm>
            <a:off x="701285" y="1607485"/>
            <a:ext cx="10961980" cy="4989062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題目兩頁，考官有提示第一頁有兩題第二頁有三題要把握時間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endParaRPr lang="zh-TW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2歲小朋友有癲癇的病史，喝奶100cc要喝一個小時，不會抬頭不會翻身，抓握想抓但抓不到，語言只會cooing，最近三個月因為肺炎反覆住院。ATNR還在</a:t>
            </a:r>
          </a:p>
          <a:p>
            <a:pPr marL="285750" indent="-285750">
              <a:buFont typeface="+mj-lt"/>
              <a:buChar char="•"/>
            </a:pP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請問診斷最有可能是什麼疾病? 診斷流程?(問很細)</a:t>
            </a:r>
          </a:p>
          <a:p>
            <a:pPr marL="285750" indent="-285750">
              <a:buFont typeface="+mj-lt"/>
              <a:buChar char="•"/>
            </a:pP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該小孩的動作發展是到哪裡？(考 milestone)各行為表現的年齡? </a:t>
            </a:r>
            <a:endParaRPr lang="zh-TW" altLang="en-US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marL="285750" indent="-285750">
              <a:buFont typeface="+mj-lt"/>
              <a:buChar char="•"/>
            </a:pP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可以什麼量表? </a:t>
            </a:r>
          </a:p>
          <a:p>
            <a:endParaRPr lang="zh-TW" altLang="en-US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第二頁給早產兒加低體重</a:t>
            </a:r>
          </a:p>
          <a:p>
            <a:pPr marL="285750" indent="-285750">
              <a:buFont typeface="+mj-lt"/>
              <a:buChar char="•"/>
            </a:pP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有什麼復健治療方式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試舉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2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個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並比較其差異</a:t>
            </a:r>
            <a:endParaRPr lang="en-US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marL="285750" indent="-285750">
              <a:buFont typeface="+mj-lt"/>
              <a:buChar char="•"/>
            </a:pP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長大之後可以用什麼功能量表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評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估？</a:t>
            </a:r>
          </a:p>
          <a:p>
            <a:pPr marL="285750" indent="-285750">
              <a:buFont typeface="+mj-lt"/>
              <a:buChar char="•"/>
            </a:pP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有什麼可以預測他將來走路的因子</a:t>
            </a:r>
            <a:endParaRPr lang="en-US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marL="285750" indent="-285750">
              <a:buFont typeface="+mj-lt"/>
              <a:buChar char="•"/>
            </a:pP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最後回去補充除了PT的復健治療方式，其他的呢？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61F8588-E0F5-560F-236F-582A46E7E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39718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C939-DFDA-F298-915D-D5DF75F6F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0FF045-5BB5-0F0E-8D3A-14F4DE3F4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300" dirty="0">
                <a:cs typeface="Calibri" panose="020F0502020204030204" pitchFamily="34" charset="0"/>
              </a:rPr>
              <a:t>113</a:t>
            </a:r>
            <a:endParaRPr lang="zh-TW" altLang="en-US" sz="4300" dirty="0">
              <a:cs typeface="Calibri" panose="020F0502020204030204" pitchFamily="34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B55F1331-331E-944E-04E6-0A3276F1A2B9}"/>
              </a:ext>
            </a:extLst>
          </p:cNvPr>
          <p:cNvSpPr txBox="1">
            <a:spLocks/>
          </p:cNvSpPr>
          <p:nvPr/>
        </p:nvSpPr>
        <p:spPr>
          <a:xfrm>
            <a:off x="701285" y="1607485"/>
            <a:ext cx="10961980" cy="498906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題目兩頁，考官有提示第一頁有兩題第二頁有三題要把握時間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endParaRPr lang="zh-TW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r>
              <a:rPr lang="zh-TW" sz="19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2歲小朋友有癲癇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的病史，喝奶100cc要喝一個小時，</a:t>
            </a:r>
            <a:r>
              <a:rPr lang="zh-TW" sz="19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不會抬頭不會翻身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，抓握想抓但抓不到，語言只會cooing，最近三個月因為肺炎反覆住院。</a:t>
            </a:r>
            <a:r>
              <a:rPr lang="zh-TW" sz="19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ATNR還在</a:t>
            </a:r>
          </a:p>
          <a:p>
            <a:pPr marL="285750" indent="-285750">
              <a:buFont typeface="+mj-lt"/>
              <a:buChar char="•"/>
            </a:pP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請問診斷最有可能是什麼疾病? 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診斷流程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?(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臨床檢查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&amp;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病史詢問懷疑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CP-&gt;MRI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影像檢查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-&gt;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確認異常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</a:p>
          <a:p>
            <a:pPr marL="285750" indent="-285750">
              <a:buFont typeface="+mj-lt"/>
              <a:buChar char="•"/>
            </a:pP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該小孩的動作發展是到哪裡？(考 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milestone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)各行為表現的年齡? </a:t>
            </a:r>
            <a:endParaRPr lang="en-US" altLang="zh-TW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lvl="1"/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	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不會抬頭不會翻身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-&gt; 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抬頭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: 4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個月、翻身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: 6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個月</a:t>
            </a:r>
            <a:endParaRPr lang="en-US" altLang="zh-TW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lvl="1"/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	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抓不到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-&gt;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抓握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: 4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個月</a:t>
            </a:r>
            <a:endParaRPr lang="en-US" altLang="zh-TW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	Cooing-&gt;4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個月</a:t>
            </a:r>
          </a:p>
          <a:p>
            <a:pPr marL="285750" indent="-285750">
              <a:buFont typeface="+mj-lt"/>
              <a:buChar char="•"/>
            </a:pP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可以什麼量表? (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篩檢量表</a:t>
            </a:r>
            <a:r>
              <a:rPr lang="en-US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: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Denver II, CDIIT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；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診斷量表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: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PDMS2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、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CLST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、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Bayley…)</a:t>
            </a:r>
          </a:p>
          <a:p>
            <a:endParaRPr lang="zh-TW" altLang="en-US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第二頁給早產兒加低體重</a:t>
            </a:r>
          </a:p>
          <a:p>
            <a:pPr marL="285750" indent="-285750">
              <a:buFont typeface="+mj-lt"/>
              <a:buChar char="•"/>
            </a:pP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有什麼復健治療方式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試舉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2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個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並比較其差異(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Bobath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、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Rood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…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endParaRPr lang="en-US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marL="285750" indent="-285750">
              <a:buFont typeface="+mj-lt"/>
              <a:buChar char="•"/>
            </a:pP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長大之後可以用什麼功能量表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評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估？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答GMFCS, 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MACS, BFMF, 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CFCS)</a:t>
            </a:r>
            <a:endParaRPr lang="en-US" altLang="zh-TW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marL="285750" indent="-285750">
              <a:buFont typeface="+mj-lt"/>
              <a:buChar char="•"/>
            </a:pP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有什麼可以預測他將來走路的因子</a:t>
            </a:r>
            <a:r>
              <a:rPr lang="zh-TW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？</a:t>
            </a:r>
            <a:endParaRPr lang="en-US" altLang="zh-TW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lvl="2"/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	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不良預後因子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:</a:t>
            </a:r>
            <a:r>
              <a:rPr lang="zh-TW" altLang="zh-TW" sz="1900" b="1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一歲半不會翻身</a:t>
            </a:r>
            <a:r>
              <a:rPr lang="zh-TW" altLang="en-US" sz="1900" b="1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、</a:t>
            </a:r>
            <a:r>
              <a:rPr lang="zh-TW" altLang="zh-TW" sz="1900" b="1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1歲半-2歲還有 &gt; 3 原始反射</a:t>
            </a:r>
            <a:endParaRPr lang="en-US" altLang="zh-TW" sz="1900" b="1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lvl="2"/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	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另外也可以用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GMFCS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: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兩歲時的功能，這個小孩應該是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GMFCS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V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的病人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兩歲沒辦法獨自翻身</a:t>
            </a: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endParaRPr lang="en-US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marL="285750" indent="-285750">
              <a:buFont typeface="+mj-lt"/>
              <a:buChar char="•"/>
            </a:pPr>
            <a:r>
              <a:rPr 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最後回去補充除了PT的復健治療方式，其他的呢？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一些</a:t>
            </a:r>
            <a:r>
              <a:rPr lang="en-US" altLang="zh-TW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CP</a:t>
            </a:r>
            <a:r>
              <a:rPr lang="zh-TW" altLang="en-US" sz="19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復健基本原則</a:t>
            </a:r>
            <a:endParaRPr lang="zh-TW" sz="19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8AC31E5-2B51-2DA4-E7AC-6E8F53B362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50540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6A634-A395-F57A-959D-6B7749670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2E43D2-2D61-0908-90CC-9E8AF71CC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cs typeface="Calibri" panose="020F0502020204030204" pitchFamily="34" charset="0"/>
              </a:rPr>
              <a:t>112</a:t>
            </a:r>
            <a:endParaRPr lang="zh-TW" altLang="en-US" dirty="0">
              <a:cs typeface="Calibri" panose="020F0502020204030204" pitchFamily="34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66D69E1D-E589-4A97-B88F-8CB203B937A4}"/>
              </a:ext>
            </a:extLst>
          </p:cNvPr>
          <p:cNvSpPr txBox="1">
            <a:spLocks/>
          </p:cNvSpPr>
          <p:nvPr/>
        </p:nvSpPr>
        <p:spPr>
          <a:xfrm>
            <a:off x="701285" y="1607485"/>
            <a:ext cx="10961980" cy="4989062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14400" lvl="1" indent="-457200">
              <a:lnSpc>
                <a:spcPct val="115000"/>
              </a:lnSpc>
              <a:buFont typeface="+mj-lt"/>
              <a:buAutoNum type="alphaLcPeriod"/>
            </a:pP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給一張紙有正反兩面，答完第一面才能翻，基本上是Lulu在主問。</a:t>
            </a:r>
            <a:endParaRPr lang="en-US" altLang="zh-TW" sz="20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15000"/>
              </a:lnSpc>
              <a:buFont typeface="+mj-lt"/>
              <a:buAutoNum type="alphaLcPeriod"/>
            </a:pP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題組：</a:t>
            </a:r>
          </a:p>
          <a:p>
            <a:pPr marL="1143000" lvl="2" indent="-228600">
              <a:lnSpc>
                <a:spcPct val="115000"/>
              </a:lnSpc>
              <a:buFont typeface="+mj-lt"/>
              <a:buAutoNum type="romanLcPeriod"/>
            </a:pP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兩歲小孩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，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爸媽主訴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講話慢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 如何詢問病史? 門診如何觀察小孩, 做什麼PE/NE。追問2歲應該正常milestone(盧考完回饋：他認為認知2歲應該要會shape matching)</a:t>
            </a:r>
          </a:p>
          <a:p>
            <a:pPr marL="1143000" lvl="2" indent="-228600">
              <a:lnSpc>
                <a:spcPct val="115000"/>
              </a:lnSpc>
              <a:buFont typeface="+mj-lt"/>
              <a:buAutoNum type="romanLcPeriod"/>
            </a:pP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有哪一些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鑑別診斷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必須考慮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</a:p>
          <a:p>
            <a:pPr marL="1143000" lvl="2" indent="-228600">
              <a:lnSpc>
                <a:spcPct val="115000"/>
              </a:lnSpc>
              <a:buFont typeface="+mj-lt"/>
              <a:buAutoNum type="romanLcPeriod"/>
            </a:pP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要排哪些領域的評估, 可以用什麼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量表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 </a:t>
            </a:r>
          </a:p>
          <a:p>
            <a:pPr marL="1143000" lvl="2" indent="-228600">
              <a:lnSpc>
                <a:spcPct val="115000"/>
              </a:lnSpc>
              <a:buFont typeface="+mj-lt"/>
              <a:buAutoNum type="romanLcPeriod"/>
            </a:pP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量表給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DQ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發展商數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分數: GM 9x, FM/語言/社會情緒/認知 6x；Clancy 18, 請下臨床臆斷? </a:t>
            </a:r>
          </a:p>
          <a:p>
            <a:pPr marL="1143000" lvl="2" indent="-228600">
              <a:lnSpc>
                <a:spcPct val="115000"/>
              </a:lnSpc>
              <a:buFont typeface="+mj-lt"/>
              <a:buAutoNum type="romanLcPeriod"/>
            </a:pP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ASD還需要詢問哪些方面的病史? </a:t>
            </a:r>
            <a:endParaRPr lang="en-US" altLang="zh-TW" sz="20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marL="1143000" lvl="2" indent="-228600">
              <a:lnSpc>
                <a:spcPct val="115000"/>
              </a:lnSpc>
              <a:buFont typeface="+mj-lt"/>
              <a:buAutoNum type="romanLcPeriod"/>
            </a:pP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除了Clancy, ASD還可以用什麼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量表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 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DC69946-DA7C-E128-DA96-191FE74318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5189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9CBFA-A8DF-0679-3859-CF32765E5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6F4F8D-3AE8-1282-056D-A6E26182D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cs typeface="Calibri" panose="020F0502020204030204" pitchFamily="34" charset="0"/>
              </a:rPr>
              <a:t>112</a:t>
            </a:r>
            <a:endParaRPr lang="zh-TW" altLang="en-US" dirty="0">
              <a:cs typeface="Calibri" panose="020F0502020204030204" pitchFamily="34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9A66CFB9-1E0E-34DB-7D32-F69110D81A21}"/>
              </a:ext>
            </a:extLst>
          </p:cNvPr>
          <p:cNvSpPr txBox="1">
            <a:spLocks/>
          </p:cNvSpPr>
          <p:nvPr/>
        </p:nvSpPr>
        <p:spPr>
          <a:xfrm>
            <a:off x="701285" y="1607485"/>
            <a:ext cx="10961980" cy="4989062"/>
          </a:xfrm>
          <a:prstGeom prst="rect">
            <a:avLst/>
          </a:prstGeom>
        </p:spPr>
        <p:txBody>
          <a:bodyPr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14400" lvl="1" indent="-457200">
              <a:lnSpc>
                <a:spcPct val="115000"/>
              </a:lnSpc>
              <a:buFont typeface="+mj-lt"/>
              <a:buAutoNum type="alphaLcPeriod"/>
            </a:pP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給一張紙有正反兩面，答完第一面才能翻，基本上是Lulu在主問。</a:t>
            </a:r>
            <a:endParaRPr lang="en-US" altLang="zh-TW" sz="20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15000"/>
              </a:lnSpc>
              <a:buFont typeface="+mj-lt"/>
              <a:buAutoNum type="alphaLcPeriod"/>
            </a:pP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題組：</a:t>
            </a:r>
          </a:p>
          <a:p>
            <a:pPr marL="1143000" lvl="2" indent="-228600">
              <a:lnSpc>
                <a:spcPct val="115000"/>
              </a:lnSpc>
              <a:buFont typeface="+mj-lt"/>
              <a:buAutoNum type="romanLcPeriod"/>
            </a:pPr>
            <a:r>
              <a:rPr lang="en-US" altLang="zh-TW" sz="2000" dirty="0" err="1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Hx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taking: 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主要照顧者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兄弟姊妹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家庭狀況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懷孕生產史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發展史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聽力篩檢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兩歲說話遲緩是完全沒講話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不會模仿聲音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無法講一個單字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不會叫爸嗎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</a:p>
          <a:p>
            <a:pPr marL="914400" lvl="2">
              <a:lnSpc>
                <a:spcPct val="115000"/>
              </a:lnSpc>
            </a:pP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   PE: 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外觀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/eye contact/MP/muscle tone/DTR /gait</a:t>
            </a:r>
          </a:p>
          <a:p>
            <a:pPr marL="914400" lvl="2">
              <a:lnSpc>
                <a:spcPct val="115000"/>
              </a:lnSpc>
            </a:pP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 </a:t>
            </a:r>
            <a:r>
              <a:rPr lang="en-US" altLang="zh-TW" sz="2000" u="sng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   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2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歲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mile stone</a:t>
            </a:r>
            <a:endParaRPr lang="zh-TW" altLang="zh-TW" sz="2000" dirty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marL="1143000" lvl="2" indent="-228600">
              <a:lnSpc>
                <a:spcPct val="115000"/>
              </a:lnSpc>
              <a:buFont typeface="+mj-lt"/>
              <a:buAutoNum type="romanLcPeriod"/>
            </a:pP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聽力, GDD, ASD, 教養問題, L2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 social communication disorder, social anxiety disorder, NVLD</a:t>
            </a:r>
            <a:endParaRPr lang="zh-TW" altLang="zh-TW" sz="20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marL="1143000" lvl="2" indent="-228600">
              <a:lnSpc>
                <a:spcPct val="115000"/>
              </a:lnSpc>
              <a:buFont typeface="+mj-lt"/>
              <a:buAutoNum type="romanLcPeriod"/>
            </a:pP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認知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社會情緒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-</a:t>
            </a:r>
            <a:r>
              <a:rPr lang="en-US" altLang="zh-TW" sz="2000" dirty="0" err="1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Baley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III (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認知不能用WPPSI) 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/ABAS-2, ASEBA(CBCL)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；語言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-CLST/CDIIT(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語言不能用PLS或PPVT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；運動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粗細動作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)-PDMS2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；感統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-sensory profile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；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ADL/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參與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-Wee-FIM II/PEDI-C</a:t>
            </a:r>
            <a:endParaRPr lang="zh-TW" altLang="zh-TW" sz="20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marL="1143000" lvl="2" indent="-228600">
              <a:lnSpc>
                <a:spcPct val="115000"/>
              </a:lnSpc>
              <a:buFont typeface="+mj-lt"/>
              <a:buAutoNum type="romanLcPeriod"/>
            </a:pP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GM 9x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正常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 FM/語言/社會情緒/認知 6x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遲緩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；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Clancy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18 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ASD+GDD</a:t>
            </a:r>
          </a:p>
          <a:p>
            <a:pPr marL="1143000" lvl="2" indent="-228600">
              <a:lnSpc>
                <a:spcPct val="115000"/>
              </a:lnSpc>
              <a:buFont typeface="+mj-lt"/>
              <a:buAutoNum type="romanLcPeriod"/>
            </a:pP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DSM V Criteria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 developmental regression/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只吃某些食物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喜歡看非中文影片</a:t>
            </a:r>
            <a:endParaRPr lang="zh-TW" altLang="zh-TW" sz="20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marL="1143000" lvl="2" indent="-228600">
              <a:lnSpc>
                <a:spcPct val="115000"/>
              </a:lnSpc>
              <a:buFont typeface="+mj-lt"/>
              <a:buAutoNum type="romanLcPeriod"/>
            </a:pP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量表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: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zh-TW" altLang="zh-TW" sz="2000" b="1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CARS</a:t>
            </a:r>
            <a:r>
              <a:rPr lang="en-US" altLang="zh-TW" sz="2000" b="1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(2-12</a:t>
            </a:r>
            <a:r>
              <a:rPr lang="zh-TW" altLang="en-US" sz="2000" b="1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歲</a:t>
            </a:r>
            <a:r>
              <a:rPr lang="en-US" altLang="zh-TW" sz="2000" b="1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), </a:t>
            </a:r>
            <a:r>
              <a:rPr lang="zh-TW" altLang="zh-TW" sz="2000" b="1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T-STAT</a:t>
            </a:r>
            <a:r>
              <a:rPr lang="en-US" altLang="zh-TW" sz="2000" b="1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(14-36</a:t>
            </a:r>
            <a:r>
              <a:rPr lang="zh-TW" altLang="en-US" sz="2000" b="1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個月</a:t>
            </a:r>
            <a:r>
              <a:rPr lang="en-US" altLang="zh-TW" sz="2000" b="1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r>
              <a:rPr lang="zh-TW" altLang="zh-TW" sz="2000" b="1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 M-CHAT</a:t>
            </a:r>
            <a:r>
              <a:rPr lang="en-US" altLang="zh-TW" sz="2000" b="1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(16-30</a:t>
            </a:r>
            <a:r>
              <a:rPr lang="zh-TW" altLang="en-US" sz="2000" b="1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個月</a:t>
            </a:r>
            <a:r>
              <a:rPr lang="en-US" altLang="zh-TW" sz="2000" b="1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endParaRPr lang="zh-TW" altLang="zh-TW" sz="2000" b="1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655D358-5972-917E-03D9-B2B27EEE6A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24457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>
          <a:extLst>
            <a:ext uri="{FF2B5EF4-FFF2-40B4-BE49-F238E27FC236}">
              <a16:creationId xmlns:a16="http://schemas.microsoft.com/office/drawing/2014/main" id="{1AD901AB-E844-57EA-C040-2E7358EC9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211">
            <a:extLst>
              <a:ext uri="{FF2B5EF4-FFF2-40B4-BE49-F238E27FC236}">
                <a16:creationId xmlns:a16="http://schemas.microsoft.com/office/drawing/2014/main" id="{D42BEC48-2CA9-E1BA-11C5-88919CE840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zh-TW" dirty="0">
                <a:cs typeface="Calibri" panose="020F0502020204030204" pitchFamily="34" charset="0"/>
              </a:rPr>
              <a:t>111</a:t>
            </a:r>
            <a:endParaRPr dirty="0">
              <a:cs typeface="Calibri" panose="020F0502020204030204" pitchFamily="34" charset="0"/>
            </a:endParaRPr>
          </a:p>
        </p:txBody>
      </p:sp>
      <p:sp>
        <p:nvSpPr>
          <p:cNvPr id="1295" name="Google Shape;1295;p211">
            <a:extLst>
              <a:ext uri="{FF2B5EF4-FFF2-40B4-BE49-F238E27FC236}">
                <a16:creationId xmlns:a16="http://schemas.microsoft.com/office/drawing/2014/main" id="{9A99DD17-D789-654B-C4BC-8A59D9C856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00" y="1404256"/>
            <a:ext cx="11963400" cy="5290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5720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zh-TW" dirty="0">
                <a:cs typeface="Calibri" panose="020F0502020204030204" pitchFamily="34" charset="0"/>
              </a:rPr>
              <a:t>1歲6個月的小朋友，一個月大時發病，經過基因檢測後確診為SMA，接著會給評估結果(用月份發展代表)粗大動作發展4個月 細動作發展4~6個月 語言發展 1歲5個月 社會情緒發展 1歲7個月 某某評估量表55分，經過審核有在使用某種治療藥物，IT給藥，1個月時發作、6個月時給藥、四個月給一次，目前已經給三次左右藥物</a:t>
            </a:r>
            <a:endParaRPr lang="en-US" altLang="zh-TW" dirty="0">
              <a:cs typeface="Calibri" panose="020F0502020204030204" pitchFamily="34" charset="0"/>
            </a:endParaRPr>
          </a:p>
          <a:p>
            <a:pPr lvl="1">
              <a:lnSpc>
                <a:spcPct val="120000"/>
              </a:lnSpc>
              <a:buSzPct val="82949"/>
            </a:pP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1.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SMA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臨床相關症狀與表現</a:t>
            </a:r>
          </a:p>
          <a:p>
            <a:pPr lvl="1">
              <a:lnSpc>
                <a:spcPct val="120000"/>
              </a:lnSpc>
              <a:buSzPct val="82949"/>
            </a:pP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2.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SMA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要怎麼分類，你覺得這個病人是哪一類的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(TYPE 1)(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會給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SMN1: SMN2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套數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=0:2)</a:t>
            </a:r>
            <a:endParaRPr lang="zh-TW" altLang="en-US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lvl="1">
              <a:lnSpc>
                <a:spcPct val="120000"/>
              </a:lnSpc>
              <a:buSzPct val="82949"/>
            </a:pP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3.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SMA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復健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與照顧重點</a:t>
            </a:r>
          </a:p>
          <a:p>
            <a:pPr lvl="1">
              <a:lnSpc>
                <a:spcPct val="120000"/>
              </a:lnSpc>
              <a:buSzPct val="82949"/>
            </a:pP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4.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SMA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會安排什麼樣的評估，評估方式有哪些？</a:t>
            </a:r>
          </a:p>
          <a:p>
            <a:pPr lvl="1">
              <a:lnSpc>
                <a:spcPct val="120000"/>
              </a:lnSpc>
              <a:buSzPct val="82949"/>
            </a:pP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5.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SMA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的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藥物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有哪幾種（有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3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種），治療方式為何？藥物機轉分別是什麼？健保給付規範為何？這個病人應該是用哪種藥物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endParaRPr lang="zh-TW" altLang="en-US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lvl="1">
              <a:lnSpc>
                <a:spcPct val="120000"/>
              </a:lnSpc>
              <a:buSzPct val="82949"/>
            </a:pP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6.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SMA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預後如何</a:t>
            </a:r>
          </a:p>
          <a:p>
            <a:pPr lvl="1">
              <a:lnSpc>
                <a:spcPct val="120000"/>
              </a:lnSpc>
              <a:buSzPct val="82949"/>
            </a:pP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7.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問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骨關節併發症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的處理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可以提四大併發症主軸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:</a:t>
            </a:r>
            <a:r>
              <a:rPr lang="zh-TW" altLang="en-US" b="1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神經肌肉、骨骼、呼吸、腸胃與營養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 </a:t>
            </a:r>
            <a:endParaRPr lang="zh-TW" altLang="en-US" b="1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lvl="1">
              <a:lnSpc>
                <a:spcPct val="120000"/>
              </a:lnSpc>
              <a:buSzPct val="82949"/>
            </a:pP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8.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（不在題本上）除了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SMA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專用評估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量表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，對於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Type 3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還有哪些評估活動力的量表可以用？每個時期的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SMA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要用哪些不同量表？</a:t>
            </a:r>
            <a:r>
              <a:rPr lang="zh-TW" altLang="en-US" b="1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請各個時期分別舉例說明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b="1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如果可以的話說明一下量表大致內容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endParaRPr lang="zh-TW" altLang="en-US" b="1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endParaRPr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566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>
          <a:extLst>
            <a:ext uri="{FF2B5EF4-FFF2-40B4-BE49-F238E27FC236}">
              <a16:creationId xmlns:a16="http://schemas.microsoft.com/office/drawing/2014/main" id="{3B4B919D-E1D2-751B-C651-5AB27796D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211">
            <a:extLst>
              <a:ext uri="{FF2B5EF4-FFF2-40B4-BE49-F238E27FC236}">
                <a16:creationId xmlns:a16="http://schemas.microsoft.com/office/drawing/2014/main" id="{0184BACD-0BB9-2BA7-44FC-C9F4F5405B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zh-TW" dirty="0">
                <a:cs typeface="Calibri" panose="020F0502020204030204" pitchFamily="34" charset="0"/>
              </a:rPr>
              <a:t>111</a:t>
            </a:r>
            <a:endParaRPr dirty="0">
              <a:cs typeface="Calibri" panose="020F0502020204030204" pitchFamily="34" charset="0"/>
            </a:endParaRPr>
          </a:p>
        </p:txBody>
      </p:sp>
      <p:sp>
        <p:nvSpPr>
          <p:cNvPr id="1295" name="Google Shape;1295;p211">
            <a:extLst>
              <a:ext uri="{FF2B5EF4-FFF2-40B4-BE49-F238E27FC236}">
                <a16:creationId xmlns:a16="http://schemas.microsoft.com/office/drawing/2014/main" id="{518E84C3-B4D6-9CCC-D7A4-CDE3A4A85A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312433"/>
            <a:ext cx="12192000" cy="529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1">
              <a:buSzPct val="82949"/>
            </a:pP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1.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zh-TW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脊髓的前角細胞運動神經元退化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認知功能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&amp;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智力正常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肌肉的萎縮通常是對稱的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近端肌肉的無力狀況比遠端明顯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仍然保有知覺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肌腱反射消失或減少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腿部肌肉萎縮的狀況比手臂肌肉更加嚴重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肌肉萎縮的嚴重程度通常與發病年齡相關</a:t>
            </a:r>
          </a:p>
          <a:p>
            <a:pPr lvl="1">
              <a:buSzPct val="82949"/>
            </a:pP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2.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依發病年齡、症狀及運動功能分為五個型別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(type0-4)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。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TYPE 1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。</a:t>
            </a:r>
            <a:endParaRPr lang="en-US" altLang="zh-TW" sz="20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lvl="1">
              <a:buSzPct val="82949"/>
            </a:pP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3.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 復健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: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先了解病童目前最佳的功能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(non-sitter VS sitter VS walker)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，每半年追蹤一次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維持與發揮現有功能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預防長期無力帶來的併發症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促進行動能力與社會參與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促進平衡與耐力</a:t>
            </a:r>
            <a:endParaRPr lang="en-US" altLang="zh-TW" sz="20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marL="1028700" lvl="2" indent="0">
              <a:buSzPct val="82949"/>
              <a:buNone/>
            </a:pP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照顧重點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: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各項併發症，骨科照顧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(chest deformity, scoliosis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尤其在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non-ambulant, hip instability, contracture, fracture)/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肺部照顧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預防感染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、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促進肺部功能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)/restrictive lung(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正壓呼吸器的使用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腸胃照顧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咀嚼吞嚥困難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、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進食疲累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、 GERD 、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腸胃道蠕動不佳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、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營養不良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、 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過重或過瘦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C9BC20A-8D9C-B7AE-19E5-AAEC1C812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049" y="4149101"/>
            <a:ext cx="7361901" cy="239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997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>
          <a:extLst>
            <a:ext uri="{FF2B5EF4-FFF2-40B4-BE49-F238E27FC236}">
              <a16:creationId xmlns:a16="http://schemas.microsoft.com/office/drawing/2014/main" id="{6AA47874-E646-B7D2-0B8C-614204DE0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211">
            <a:extLst>
              <a:ext uri="{FF2B5EF4-FFF2-40B4-BE49-F238E27FC236}">
                <a16:creationId xmlns:a16="http://schemas.microsoft.com/office/drawing/2014/main" id="{66B69D69-0663-9EA0-4694-394155FAD96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TW"/>
              <a:t>111</a:t>
            </a:r>
            <a:endParaRPr lang="zh-TW" altLang="en-US" dirty="0"/>
          </a:p>
        </p:txBody>
      </p:sp>
      <p:sp>
        <p:nvSpPr>
          <p:cNvPr id="1295" name="Google Shape;1295;p211">
            <a:extLst>
              <a:ext uri="{FF2B5EF4-FFF2-40B4-BE49-F238E27FC236}">
                <a16:creationId xmlns:a16="http://schemas.microsoft.com/office/drawing/2014/main" id="{879BD49D-7502-87D6-AC2A-DB6311D38F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5447" y="1230923"/>
            <a:ext cx="10515600" cy="4418502"/>
          </a:xfrm>
        </p:spPr>
        <p:txBody>
          <a:bodyPr/>
          <a:lstStyle/>
          <a:p>
            <a:pPr lvl="1"/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4.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運動評估為主，可以依照個案評估語言、認知、社會情緒</a:t>
            </a:r>
            <a:endParaRPr lang="en-US" altLang="zh-TW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E58AE7B-B297-756C-F771-1967F7D3E6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290" t="1363" r="7187" b="17576"/>
          <a:stretch/>
        </p:blipFill>
        <p:spPr>
          <a:xfrm>
            <a:off x="1811214" y="1719976"/>
            <a:ext cx="7491047" cy="4089501"/>
          </a:xfrm>
          <a:prstGeom prst="rect">
            <a:avLst/>
          </a:prstGeom>
        </p:spPr>
      </p:pic>
      <p:sp>
        <p:nvSpPr>
          <p:cNvPr id="3" name="Google Shape;1216;p124">
            <a:extLst>
              <a:ext uri="{FF2B5EF4-FFF2-40B4-BE49-F238E27FC236}">
                <a16:creationId xmlns:a16="http://schemas.microsoft.com/office/drawing/2014/main" id="{27E3DD17-3C16-75AD-3B66-F2BD158747D5}"/>
              </a:ext>
            </a:extLst>
          </p:cNvPr>
          <p:cNvSpPr/>
          <p:nvPr/>
        </p:nvSpPr>
        <p:spPr>
          <a:xfrm>
            <a:off x="1898385" y="5725317"/>
            <a:ext cx="716355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001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6"/>
              <a:buFont typeface="Arial" panose="020B0604020202020204" pitchFamily="34" charset="0"/>
              <a:buChar char="•"/>
            </a:pPr>
            <a:r>
              <a:rPr lang="zh-TW" sz="2400" b="0" i="0" u="none" strike="noStrike" cap="none" dirty="0">
                <a:solidFill>
                  <a:schemeClr val="dk1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sym typeface="Calibri"/>
              </a:rPr>
              <a:t>比較嚴重可以用</a:t>
            </a:r>
            <a:r>
              <a:rPr lang="zh-TW" sz="2400" b="0" i="0" u="none" strike="noStrike" cap="none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sym typeface="Calibri"/>
              </a:rPr>
              <a:t>CHOP INTEND</a:t>
            </a:r>
            <a:r>
              <a:rPr lang="zh-TW" sz="2400" b="0" i="0" u="none" strike="noStrike" cap="none" dirty="0">
                <a:solidFill>
                  <a:schemeClr val="dk1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sym typeface="Calibri"/>
              </a:rPr>
              <a:t>、</a:t>
            </a:r>
            <a:r>
              <a:rPr lang="zh-TW" sz="2400" b="0" i="0" u="none" strike="noStrike" cap="none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sym typeface="Calibri"/>
              </a:rPr>
              <a:t>HINE-2</a:t>
            </a:r>
            <a:endParaRPr sz="2400" b="0" i="0" u="none" strike="noStrike" cap="none" dirty="0">
              <a:solidFill>
                <a:schemeClr val="dk1"/>
              </a:solidFill>
              <a:latin typeface="微軟正黑體" pitchFamily="34" charset="-120"/>
              <a:ea typeface="微軟正黑體" pitchFamily="34" charset="-120"/>
              <a:cs typeface="Calibri" panose="020F0502020204030204" pitchFamily="34" charset="0"/>
              <a:sym typeface="Calibri"/>
            </a:endParaRPr>
          </a:p>
          <a:p>
            <a:pPr marL="8001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6"/>
              <a:buFont typeface="Arial" panose="020B0604020202020204" pitchFamily="34" charset="0"/>
              <a:buChar char="•"/>
            </a:pPr>
            <a:r>
              <a:rPr lang="zh-TW" sz="2400" b="0" i="0" u="none" strike="noStrike" cap="none" dirty="0">
                <a:solidFill>
                  <a:schemeClr val="dk1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sym typeface="Calibri"/>
              </a:rPr>
              <a:t>比較好一點的可以用</a:t>
            </a:r>
            <a:r>
              <a:rPr lang="zh-TW" sz="2400" b="0" i="0" u="none" strike="noStrike" cap="none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sym typeface="Calibri"/>
              </a:rPr>
              <a:t>HFMSE</a:t>
            </a:r>
            <a:r>
              <a:rPr lang="zh-TW" sz="2400" b="0" i="0" u="none" strike="noStrike" cap="none" dirty="0">
                <a:solidFill>
                  <a:schemeClr val="dk1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sym typeface="Calibri"/>
              </a:rPr>
              <a:t>跟</a:t>
            </a:r>
            <a:r>
              <a:rPr lang="zh-TW" sz="2400" b="0" i="0" u="none" strike="noStrike" cap="none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sym typeface="Calibri"/>
              </a:rPr>
              <a:t>RULM</a:t>
            </a:r>
            <a:r>
              <a:rPr lang="zh-TW" sz="2400" b="0" i="0" u="none" strike="noStrike" cap="none" dirty="0">
                <a:solidFill>
                  <a:schemeClr val="dk1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sym typeface="Calibri"/>
              </a:rPr>
              <a:t>來評估</a:t>
            </a:r>
            <a:endParaRPr sz="2400" b="0" i="0" u="none" strike="noStrike" cap="none" dirty="0">
              <a:solidFill>
                <a:schemeClr val="dk1"/>
              </a:solidFill>
              <a:latin typeface="微軟正黑體" pitchFamily="34" charset="-120"/>
              <a:ea typeface="微軟正黑體" pitchFamily="34" charset="-12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4623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>
          <a:extLst>
            <a:ext uri="{FF2B5EF4-FFF2-40B4-BE49-F238E27FC236}">
              <a16:creationId xmlns:a16="http://schemas.microsoft.com/office/drawing/2014/main" id="{69DF3C3B-38A5-C401-F965-FFEA07863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211">
            <a:extLst>
              <a:ext uri="{FF2B5EF4-FFF2-40B4-BE49-F238E27FC236}">
                <a16:creationId xmlns:a16="http://schemas.microsoft.com/office/drawing/2014/main" id="{540D8C77-75DE-AC68-3A4C-3D708FB4A6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zh-TW" dirty="0">
                <a:cs typeface="Calibri" panose="020F0502020204030204" pitchFamily="34" charset="0"/>
              </a:rPr>
              <a:t>111</a:t>
            </a:r>
            <a:endParaRPr dirty="0">
              <a:cs typeface="Calibri" panose="020F0502020204030204" pitchFamily="34" charset="0"/>
            </a:endParaRPr>
          </a:p>
        </p:txBody>
      </p:sp>
      <p:sp>
        <p:nvSpPr>
          <p:cNvPr id="1295" name="Google Shape;1295;p211">
            <a:extLst>
              <a:ext uri="{FF2B5EF4-FFF2-40B4-BE49-F238E27FC236}">
                <a16:creationId xmlns:a16="http://schemas.microsoft.com/office/drawing/2014/main" id="{3E0E278D-89A3-C41E-92E3-F1DF6CD84A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336431"/>
            <a:ext cx="12192000" cy="527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1">
              <a:buSzPct val="82949"/>
            </a:pP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5.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SMA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的藥物目前有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3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種。皆健保給付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目前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。每四個月給一次的藥物為</a:t>
            </a:r>
            <a:r>
              <a:rPr lang="en-US" altLang="zh-TW" sz="2400" dirty="0" err="1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spinraza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。</a:t>
            </a:r>
            <a:endParaRPr lang="en-US" altLang="zh-TW" sz="24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marL="571500" lvl="1" indent="0">
              <a:buSzPct val="82949"/>
              <a:buNone/>
            </a:pP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 (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此病人符合</a:t>
            </a:r>
            <a:r>
              <a:rPr lang="en-US" altLang="zh-TW" sz="2400" dirty="0" err="1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spinraza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en-US" altLang="zh-TW" sz="2400" dirty="0" err="1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evrysdi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健保給付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標準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endParaRPr lang="zh-TW" altLang="en-US" sz="24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D6563EA-3F9F-A187-EF06-92EE32727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539" y="2163229"/>
            <a:ext cx="4907811" cy="4694771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CD3FD15-FE76-89FF-393C-A7934D9F61B9}"/>
              </a:ext>
            </a:extLst>
          </p:cNvPr>
          <p:cNvSpPr txBox="1"/>
          <p:nvPr/>
        </p:nvSpPr>
        <p:spPr>
          <a:xfrm>
            <a:off x="6845300" y="1787099"/>
            <a:ext cx="5346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考試那年只有符合</a:t>
            </a:r>
            <a:r>
              <a:rPr lang="en-US" altLang="zh-TW" sz="2000" dirty="0" err="1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spinraza</a:t>
            </a:r>
            <a:r>
              <a:rPr lang="zh-TW" altLang="en-US" sz="20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20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近期健保更改</a:t>
            </a:r>
            <a:r>
              <a:rPr lang="en-US" altLang="zh-TW" sz="2000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endParaRPr lang="zh-TW" altLang="en-US" sz="2000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743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>
          <a:extLst>
            <a:ext uri="{FF2B5EF4-FFF2-40B4-BE49-F238E27FC236}">
              <a16:creationId xmlns:a16="http://schemas.microsoft.com/office/drawing/2014/main" id="{4C365E07-B6EE-DCE5-9D8D-522C27F1F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211">
            <a:extLst>
              <a:ext uri="{FF2B5EF4-FFF2-40B4-BE49-F238E27FC236}">
                <a16:creationId xmlns:a16="http://schemas.microsoft.com/office/drawing/2014/main" id="{9C204CC2-1769-E82B-BC4C-2747AD7F3B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zh-TW" dirty="0">
                <a:cs typeface="Calibri" panose="020F0502020204030204" pitchFamily="34" charset="0"/>
              </a:rPr>
              <a:t>111</a:t>
            </a:r>
            <a:endParaRPr dirty="0">
              <a:cs typeface="Calibri" panose="020F0502020204030204" pitchFamily="34" charset="0"/>
            </a:endParaRPr>
          </a:p>
        </p:txBody>
      </p:sp>
      <p:sp>
        <p:nvSpPr>
          <p:cNvPr id="1295" name="Google Shape;1295;p211">
            <a:extLst>
              <a:ext uri="{FF2B5EF4-FFF2-40B4-BE49-F238E27FC236}">
                <a16:creationId xmlns:a16="http://schemas.microsoft.com/office/drawing/2014/main" id="{E423DD05-2913-4920-13FC-5E1EFD1291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825625"/>
            <a:ext cx="3403601" cy="4781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SzPct val="82949"/>
              <a:buNone/>
            </a:pPr>
            <a:endParaRPr lang="en-US" altLang="zh-TW" sz="2400" dirty="0">
              <a:cs typeface="Calibri" panose="020F0502020204030204" pitchFamily="34" charset="0"/>
            </a:endParaRPr>
          </a:p>
          <a:p>
            <a:pPr>
              <a:buSzPct val="82949"/>
            </a:pPr>
            <a:r>
              <a:rPr lang="en-US" altLang="zh-TW" sz="2400" dirty="0">
                <a:cs typeface="Calibri" panose="020F0502020204030204" pitchFamily="34" charset="0"/>
              </a:rPr>
              <a:t>6.</a:t>
            </a:r>
            <a:r>
              <a:rPr lang="zh-TW" altLang="en-US" sz="2400" dirty="0">
                <a:cs typeface="Calibri" panose="020F0502020204030204" pitchFamily="34" charset="0"/>
              </a:rPr>
              <a:t> 預後</a:t>
            </a:r>
            <a:endParaRPr lang="en-US" altLang="zh-TW" sz="2400" dirty="0">
              <a:cs typeface="Calibri" panose="020F0502020204030204" pitchFamily="34" charset="0"/>
            </a:endParaRPr>
          </a:p>
          <a:p>
            <a:pPr>
              <a:buSzPct val="82949"/>
            </a:pPr>
            <a:r>
              <a:rPr lang="en-US" altLang="zh-TW" sz="2400" dirty="0">
                <a:cs typeface="Calibri" panose="020F0502020204030204" pitchFamily="34" charset="0"/>
              </a:rPr>
              <a:t>7.</a:t>
            </a:r>
            <a:r>
              <a:rPr lang="zh-TW" altLang="en-US" sz="2400" dirty="0">
                <a:cs typeface="Calibri" panose="020F0502020204030204" pitchFamily="34" charset="0"/>
              </a:rPr>
              <a:t> 骨關節併發症</a:t>
            </a:r>
            <a:endParaRPr lang="en-US" altLang="zh-TW" sz="2400" dirty="0">
              <a:cs typeface="Calibri" panose="020F0502020204030204" pitchFamily="34" charset="0"/>
            </a:endParaRPr>
          </a:p>
          <a:p>
            <a:pPr>
              <a:buSzPct val="82949"/>
              <a:buFontTx/>
              <a:buChar char="-"/>
            </a:pPr>
            <a:r>
              <a:rPr lang="en-US" altLang="zh-TW" sz="2400" dirty="0">
                <a:cs typeface="Calibri" panose="020F0502020204030204" pitchFamily="34" charset="0"/>
              </a:rPr>
              <a:t>Scoliosis</a:t>
            </a:r>
            <a:r>
              <a:rPr lang="zh-TW" altLang="en-US" sz="2400" dirty="0">
                <a:cs typeface="Calibri" panose="020F0502020204030204" pitchFamily="34" charset="0"/>
              </a:rPr>
              <a:t>處置</a:t>
            </a:r>
            <a:endParaRPr lang="en-US" altLang="zh-TW" sz="2400" dirty="0">
              <a:cs typeface="Calibri" panose="020F0502020204030204" pitchFamily="34" charset="0"/>
            </a:endParaRPr>
          </a:p>
          <a:p>
            <a:pPr marL="114300" indent="0">
              <a:buSzPct val="82949"/>
              <a:buNone/>
            </a:pPr>
            <a:r>
              <a:rPr lang="en-US" altLang="zh-TW" sz="2400" dirty="0">
                <a:cs typeface="Calibri" panose="020F0502020204030204" pitchFamily="34" charset="0"/>
              </a:rPr>
              <a:t>(brace, OP for sitters)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1EDC943-4B57-5020-CDFA-2A4BA4EAB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601" y="62345"/>
            <a:ext cx="1944000" cy="673331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BC23D4EA-0BAC-3205-1E12-C049E64DBB0F}"/>
              </a:ext>
            </a:extLst>
          </p:cNvPr>
          <p:cNvSpPr txBox="1"/>
          <p:nvPr/>
        </p:nvSpPr>
        <p:spPr>
          <a:xfrm>
            <a:off x="5969001" y="1019908"/>
            <a:ext cx="599182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sz="24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marL="342900" lvl="1" indent="-342900">
              <a:buSzPct val="82949"/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8.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6MWT</a:t>
            </a:r>
          </a:p>
          <a:p>
            <a:pPr lvl="1">
              <a:buSzPct val="82949"/>
            </a:pP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         每個時期的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SMA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不同量表</a:t>
            </a:r>
            <a:endParaRPr lang="en-US" altLang="zh-TW" sz="24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CHOP INTEND: 3.8個月~4歲/16個運動技能，無呼吸與餵食</a:t>
            </a:r>
            <a:endParaRPr lang="en-US" altLang="zh-TW" sz="24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HINE-2: 2個月~2歲/第二部分(動作發展里程碑-頭部控制、坐姿、自主性抓握、踢、滾動、爬行、站立、行走能力）(8個項目)</a:t>
            </a:r>
            <a:endParaRPr lang="en-US" altLang="zh-TW" sz="24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MFM32: 6歲以上/D1(站立姿勢和轉移)D2(軸向和近端運動技能)D3(遠端運動技能)</a:t>
            </a:r>
            <a:endParaRPr lang="en-US" altLang="zh-TW" sz="24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HFMSE: 滿2歲/33個項目</a:t>
            </a:r>
            <a:endParaRPr lang="en-US" altLang="zh-TW" sz="24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RULM:30個月~27歲/20項</a:t>
            </a:r>
            <a:endParaRPr lang="en-US" altLang="zh-TW" sz="24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141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>
          <a:extLst>
            <a:ext uri="{FF2B5EF4-FFF2-40B4-BE49-F238E27FC236}">
              <a16:creationId xmlns:a16="http://schemas.microsoft.com/office/drawing/2014/main" id="{0CF6A650-9D2B-0432-6432-8EAB62DA0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211">
            <a:extLst>
              <a:ext uri="{FF2B5EF4-FFF2-40B4-BE49-F238E27FC236}">
                <a16:creationId xmlns:a16="http://schemas.microsoft.com/office/drawing/2014/main" id="{F38B337A-8BCB-7639-8F70-6437670D13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zh-TW" altLang="zh-TW" dirty="0">
                <a:cs typeface="Calibri" panose="020F0502020204030204" pitchFamily="34" charset="0"/>
              </a:rPr>
              <a:t>108</a:t>
            </a:r>
            <a:endParaRPr dirty="0">
              <a:cs typeface="Calibri" panose="020F0502020204030204" pitchFamily="34" charset="0"/>
            </a:endParaRPr>
          </a:p>
        </p:txBody>
      </p:sp>
      <p:sp>
        <p:nvSpPr>
          <p:cNvPr id="1295" name="Google Shape;1295;p211">
            <a:extLst>
              <a:ext uri="{FF2B5EF4-FFF2-40B4-BE49-F238E27FC236}">
                <a16:creationId xmlns:a16="http://schemas.microsoft.com/office/drawing/2014/main" id="{7F5A1803-2772-503F-BE2A-53335AF488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445" y="2792939"/>
            <a:ext cx="11421110" cy="3859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lvl="1" indent="-457200">
              <a:lnSpc>
                <a:spcPct val="12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最可能的疾病診斷為何？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CP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endParaRPr lang="en-US" altLang="zh-TW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lvl="1" indent="-457200">
              <a:lnSpc>
                <a:spcPct val="12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需要詢問哪些問題來確立診斷？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Abnormal motor development, Fixed motor dysfunction, nonprogressive,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不正常的神經學症狀及反射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</a:p>
          <a:p>
            <a:pPr lvl="1" indent="-457200">
              <a:lnSpc>
                <a:spcPct val="12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會有什麽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併發症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吞嚥餵食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腸胃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肺部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腦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(seizure, MR, mood-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過動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暴躁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內外向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自卑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語言學習障礙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骨骼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泌尿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感官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視覺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聽力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知覺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併發症處理</a:t>
            </a:r>
            <a:endParaRPr lang="en-US" altLang="zh-TW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lvl="1" indent="-457200">
              <a:lnSpc>
                <a:spcPct val="12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有什麼樣的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Gait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Spastic hemiplegia</a:t>
            </a:r>
          </a:p>
          <a:p>
            <a:pPr lvl="1" indent="-457200">
              <a:lnSpc>
                <a:spcPct val="12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需要什麼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輔具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依據各種步態適用不同的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AFO</a:t>
            </a:r>
          </a:p>
          <a:p>
            <a:pPr lvl="1" indent="-457200">
              <a:lnSpc>
                <a:spcPct val="12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要做什麼評估和檢查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Hip X ray,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脊椎側彎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視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聽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知覺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張力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動作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語言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認知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社會情緒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..</a:t>
            </a:r>
          </a:p>
          <a:p>
            <a:pPr lvl="1" indent="-457200">
              <a:lnSpc>
                <a:spcPct val="12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怎麼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治療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 </a:t>
            </a:r>
          </a:p>
          <a:p>
            <a:pPr lvl="1" indent="-457200">
              <a:lnSpc>
                <a:spcPct val="12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請用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ICF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模式來分析此病人並且敘述要使用何種量表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</a:p>
          <a:p>
            <a:pPr lvl="1" indent="-457200">
              <a:lnSpc>
                <a:spcPct val="12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怎麼處理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張力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 </a:t>
            </a:r>
          </a:p>
          <a:p>
            <a:pPr lvl="1" indent="-457200">
              <a:lnSpc>
                <a:spcPct val="12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還有什麼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新式復健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方法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馬術、游泳、高壓氧、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PWBSTT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、</a:t>
            </a:r>
            <a:r>
              <a:rPr lang="en-US" altLang="zh-TW" dirty="0" err="1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rTMS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、</a:t>
            </a:r>
            <a:r>
              <a:rPr lang="en-US" altLang="zh-TW" dirty="0" err="1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tDCS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、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VR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、機器人輔助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818FF7F-792B-9B95-0411-71DD14C87DED}"/>
              </a:ext>
            </a:extLst>
          </p:cNvPr>
          <p:cNvSpPr txBox="1"/>
          <p:nvPr/>
        </p:nvSpPr>
        <p:spPr>
          <a:xfrm>
            <a:off x="838200" y="1547958"/>
            <a:ext cx="1101950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五歲女生，小時候因為先天性心臟病開刀後，造成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right cerebral infarction</a:t>
            </a:r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，左手較無力，拿餅乾會掉，不會分辨顏色，上下肢都有張力，可以放手走幾步路，發展商数，大動作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PR</a:t>
            </a:r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為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2</a:t>
            </a:r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，細動作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PR 12</a:t>
            </a:r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， 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IQ 65</a:t>
            </a:r>
          </a:p>
        </p:txBody>
      </p:sp>
    </p:spTree>
    <p:extLst>
      <p:ext uri="{BB962C8B-B14F-4D97-AF65-F5344CB8AC3E}">
        <p14:creationId xmlns:p14="http://schemas.microsoft.com/office/powerpoint/2010/main" val="546878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8DAFB-C826-54F5-53C8-0BF93F535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BF5F50D-2E16-9D7C-3B80-22F7F23EC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A937785-11A5-A136-321A-8A1E8FAD1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25" y="681037"/>
            <a:ext cx="11879549" cy="542004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2455AF14-A2ED-62AE-6A6E-EC6102D1DDC2}"/>
              </a:ext>
            </a:extLst>
          </p:cNvPr>
          <p:cNvSpPr txBox="1"/>
          <p:nvPr/>
        </p:nvSpPr>
        <p:spPr>
          <a:xfrm>
            <a:off x="6967607" y="6460259"/>
            <a:ext cx="50681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>
                <a:solidFill>
                  <a:srgbClr val="23232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Uptodate</a:t>
            </a:r>
            <a:r>
              <a:rPr lang="en-US" altLang="zh-TW" dirty="0">
                <a:solidFill>
                  <a:srgbClr val="23232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- Cerebral palsy: Evaluation and diagnosis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492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6BC8C-901F-99B8-F1CA-2843AF239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377D3FB-1708-6051-32AA-2B1142C11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27" y="89370"/>
            <a:ext cx="9968345" cy="640350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FF82224-757D-90FF-624D-66F8ED632B7E}"/>
              </a:ext>
            </a:extLst>
          </p:cNvPr>
          <p:cNvSpPr txBox="1"/>
          <p:nvPr/>
        </p:nvSpPr>
        <p:spPr>
          <a:xfrm>
            <a:off x="6967607" y="6460259"/>
            <a:ext cx="50681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>
                <a:solidFill>
                  <a:srgbClr val="23232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Uptodate</a:t>
            </a:r>
            <a:r>
              <a:rPr lang="en-US" altLang="zh-TW" dirty="0">
                <a:solidFill>
                  <a:srgbClr val="23232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- Cerebral palsy: Evaluation and diagnosis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549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>
          <a:extLst>
            <a:ext uri="{FF2B5EF4-FFF2-40B4-BE49-F238E27FC236}">
              <a16:creationId xmlns:a16="http://schemas.microsoft.com/office/drawing/2014/main" id="{529A99CE-0C7E-1632-C5F1-BD6C89AA2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211">
            <a:extLst>
              <a:ext uri="{FF2B5EF4-FFF2-40B4-BE49-F238E27FC236}">
                <a16:creationId xmlns:a16="http://schemas.microsoft.com/office/drawing/2014/main" id="{65462975-BD0D-B909-F46A-CA4363A908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altLang="zh-TW" dirty="0">
                <a:cs typeface="Calibri" panose="020F0502020204030204" pitchFamily="34" charset="0"/>
                <a:sym typeface="Arial"/>
              </a:rPr>
              <a:t>107</a:t>
            </a:r>
            <a:endParaRPr lang="zh-TW" altLang="en-US" dirty="0">
              <a:cs typeface="Calibri" panose="020F0502020204030204" pitchFamily="34" charset="0"/>
            </a:endParaRPr>
          </a:p>
        </p:txBody>
      </p:sp>
      <p:sp>
        <p:nvSpPr>
          <p:cNvPr id="1295" name="Google Shape;1295;p211">
            <a:extLst>
              <a:ext uri="{FF2B5EF4-FFF2-40B4-BE49-F238E27FC236}">
                <a16:creationId xmlns:a16="http://schemas.microsoft.com/office/drawing/2014/main" id="{53B864F8-9A0C-EB81-A126-155D0D13A8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199" y="1690687"/>
            <a:ext cx="10515600" cy="4802187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zh-TW" altLang="en-US" sz="2400" dirty="0">
                <a:cs typeface="Calibri" panose="020F0502020204030204" pitchFamily="34" charset="0"/>
              </a:rPr>
              <a:t>五歲兒童，早產兒，</a:t>
            </a:r>
            <a:r>
              <a:rPr lang="en-US" altLang="zh-TW" sz="2400" dirty="0">
                <a:cs typeface="Calibri" panose="020F0502020204030204" pitchFamily="34" charset="0"/>
              </a:rPr>
              <a:t>PVL</a:t>
            </a:r>
            <a:r>
              <a:rPr lang="zh-TW" altLang="en-US" sz="2400" dirty="0">
                <a:cs typeface="Calibri" panose="020F0502020204030204" pitchFamily="34" charset="0"/>
              </a:rPr>
              <a:t>，</a:t>
            </a:r>
            <a:r>
              <a:rPr lang="en-US" altLang="zh-TW" sz="2400" dirty="0">
                <a:cs typeface="Calibri" panose="020F0502020204030204" pitchFamily="34" charset="0"/>
              </a:rPr>
              <a:t>retinopathy, </a:t>
            </a:r>
            <a:r>
              <a:rPr lang="zh-TW" altLang="en-US" sz="2400" dirty="0">
                <a:cs typeface="Calibri" panose="020F0502020204030204" pitchFamily="34" charset="0"/>
              </a:rPr>
              <a:t>四肢</a:t>
            </a:r>
            <a:r>
              <a:rPr lang="en-US" altLang="zh-TW" sz="2400" dirty="0">
                <a:cs typeface="Calibri" panose="020F0502020204030204" pitchFamily="34" charset="0"/>
              </a:rPr>
              <a:t>spasticity, </a:t>
            </a:r>
            <a:r>
              <a:rPr lang="zh-TW" altLang="en-US" sz="2400" dirty="0">
                <a:cs typeface="Calibri" panose="020F0502020204030204" pitchFamily="34" charset="0"/>
              </a:rPr>
              <a:t>給他評估的所有項目量表的百分等級，回答子題？</a:t>
            </a:r>
            <a:r>
              <a:rPr lang="en-US" altLang="zh-TW" sz="2400" dirty="0">
                <a:cs typeface="Calibri" panose="020F0502020204030204" pitchFamily="34" charset="0"/>
              </a:rPr>
              <a:t> </a:t>
            </a:r>
          </a:p>
          <a:p>
            <a:pPr lvl="1"/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病人的診斷為何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CP</a:t>
            </a:r>
            <a:endParaRPr lang="zh-TW" altLang="en-US" sz="22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lvl="1"/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遲緩的領域有什麼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沒給</a:t>
            </a:r>
          </a:p>
          <a:p>
            <a:pPr lvl="1"/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發展遲緩的</a:t>
            </a:r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危險因子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Taipei II</a:t>
            </a:r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or 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CP</a:t>
            </a:r>
            <a:endParaRPr lang="en-US" altLang="zh-TW" sz="22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lvl="1"/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能不能</a:t>
            </a:r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走路</a:t>
            </a:r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的預後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Spastic hemiplegia</a:t>
            </a:r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幾乎都可獨立走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en-US" altLang="zh-TW" sz="2200" dirty="0" err="1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Diplegia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80-90%</a:t>
            </a:r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可走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/Quadriplegia 50%(1/3</a:t>
            </a:r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獨立走、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1/3</a:t>
            </a:r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輔具走、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1/4</a:t>
            </a:r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不能走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endParaRPr lang="zh-TW" altLang="en-US" sz="22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lvl="1"/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如何用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ICF model</a:t>
            </a:r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評估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endParaRPr lang="zh-TW" altLang="en-US" sz="22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lvl="1"/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Spasticity</a:t>
            </a:r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治療有哪些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保守到侵入性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)?</a:t>
            </a:r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endParaRPr lang="en-US" altLang="zh-TW" sz="22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lvl="1"/>
            <a:r>
              <a:rPr lang="zh-TW" altLang="en-US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該如何成效評估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 </a:t>
            </a:r>
            <a:r>
              <a:rPr lang="en-US" altLang="zh-TW" sz="22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SMART/GAS</a:t>
            </a:r>
            <a:endParaRPr lang="zh-TW" altLang="en-US" sz="22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0752486-B3DB-EC4E-D0D7-EFA49FBA4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410" y="5532437"/>
            <a:ext cx="6403590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486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>
          <a:extLst>
            <a:ext uri="{FF2B5EF4-FFF2-40B4-BE49-F238E27FC236}">
              <a16:creationId xmlns:a16="http://schemas.microsoft.com/office/drawing/2014/main" id="{61970DA9-6E29-3BD2-46A7-3AF4FFCAB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211">
            <a:extLst>
              <a:ext uri="{FF2B5EF4-FFF2-40B4-BE49-F238E27FC236}">
                <a16:creationId xmlns:a16="http://schemas.microsoft.com/office/drawing/2014/main" id="{1D9610EB-FBF3-C4D4-E58D-9D5EDEECF7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zh-TW" altLang="zh-TW" dirty="0">
                <a:cs typeface="Calibri" panose="020F0502020204030204" pitchFamily="34" charset="0"/>
                <a:sym typeface="Arial"/>
              </a:rPr>
              <a:t>106</a:t>
            </a:r>
            <a:endParaRPr dirty="0">
              <a:cs typeface="Calibri" panose="020F0502020204030204" pitchFamily="34" charset="0"/>
            </a:endParaRPr>
          </a:p>
        </p:txBody>
      </p:sp>
      <p:sp>
        <p:nvSpPr>
          <p:cNvPr id="1295" name="Google Shape;1295;p211">
            <a:extLst>
              <a:ext uri="{FF2B5EF4-FFF2-40B4-BE49-F238E27FC236}">
                <a16:creationId xmlns:a16="http://schemas.microsoft.com/office/drawing/2014/main" id="{6A4688C9-4716-0563-93B9-7522E92680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99846"/>
            <a:ext cx="10515600" cy="503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lvl="0" indent="-4572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zh-TW" sz="26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4 y/o 男童，因為無法對話，只能聽懂簡單指令，互動性差，有固著行為，前來兒童發展聯合評估中心接受評估。魏氏幼兒智力量表修訂版中文版 (WPPSI-R):全量表智商(full IQ)75，語文量表智商(verbal IQ) 76，作業量表智商(performance IQ)72。其他領域的評估依標準化工具測驗結果如下認知量表百分等級9，溝通/語言量表百分等級＜0.1，粗大動作百分等級為28，精細動作百分等級28，社會情緒量表百分等級1</a:t>
            </a:r>
            <a:endParaRPr lang="en-US" altLang="zh-TW" sz="2600" dirty="0">
              <a:cs typeface="Calibri" panose="020F0502020204030204" pitchFamily="34" charset="0"/>
            </a:endParaRP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你覺得他有哪些領域的發展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遲緩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溝通語言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社會情緒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認知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臨界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最可能的疾病診斷為何？需要詢問哪些問題來確立診斷？外表特徵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家族史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臨界智能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自閉特質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確診需基因檢測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發展正常的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4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歲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兒童應有哪些能力？ 單腳站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5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秒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過肩丟球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剪刀剪直線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畫人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(2-4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可辨認部位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)/4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個詞的句子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數到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4/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想像 競爭遊戲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fragile X syndrome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會有哪些症狀？ 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以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ICF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的觀點描述整體性介入？舉例各領域有哪些評估工具？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請說明追蹤的方法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SMART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goal, goal attainment scale)</a:t>
            </a:r>
          </a:p>
        </p:txBody>
      </p:sp>
    </p:spTree>
    <p:extLst>
      <p:ext uri="{BB962C8B-B14F-4D97-AF65-F5344CB8AC3E}">
        <p14:creationId xmlns:p14="http://schemas.microsoft.com/office/powerpoint/2010/main" val="15154863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71"/>
          <p:cNvSpPr txBox="1">
            <a:spLocks noGrp="1"/>
          </p:cNvSpPr>
          <p:nvPr>
            <p:ph type="title"/>
          </p:nvPr>
        </p:nvSpPr>
        <p:spPr>
          <a:xfrm>
            <a:off x="0" y="-81683"/>
            <a:ext cx="1614055" cy="1110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2700" lvl="0" indent="0" algn="l" rtl="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zh-TW" sz="4400" dirty="0"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106</a:t>
            </a:r>
            <a:endParaRPr sz="4400" dirty="0"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</p:txBody>
      </p:sp>
      <p:sp>
        <p:nvSpPr>
          <p:cNvPr id="376" name="Google Shape;376;p171"/>
          <p:cNvSpPr txBox="1">
            <a:spLocks noGrp="1"/>
          </p:cNvSpPr>
          <p:nvPr>
            <p:ph type="body" idx="1"/>
          </p:nvPr>
        </p:nvSpPr>
        <p:spPr>
          <a:xfrm>
            <a:off x="176645" y="1028701"/>
            <a:ext cx="11450782" cy="582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9900" marR="74930" lvl="0" indent="-457200" algn="l" rtl="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zh-TW" sz="2800" dirty="0"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4 y/o 男童，因為無法對話，只能聽懂簡單指令，互動性差，有固著行為，前來兒童發展聯合評估中心接受評估。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27100" marR="74930" lvl="1" indent="-457200" algn="l" rtl="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魏氏幼兒智力量表修訂版中文版 (WPPSI-R):</a:t>
            </a:r>
            <a:endParaRPr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1384300" marR="74930" lvl="2" indent="-457200" algn="l" rtl="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全量表智商(full IQ) 75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 : 70&lt;IQ&lt;8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5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，智商</a:t>
            </a:r>
            <a:r>
              <a:rPr lang="zh-TW" altLang="en-US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臨界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程度</a:t>
            </a:r>
            <a:endParaRPr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  <a:sym typeface="Calibri"/>
            </a:endParaRPr>
          </a:p>
          <a:p>
            <a:pPr marL="1384300" marR="74930" lvl="2" indent="-457200" algn="l" rtl="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語文量表 智商(verbal IQ) 76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: 70&lt;IQ&lt;8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5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，智商</a:t>
            </a:r>
            <a:r>
              <a:rPr lang="zh-TW" altLang="en-US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臨界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程度</a:t>
            </a:r>
            <a:endParaRPr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  <a:sym typeface="Calibri"/>
            </a:endParaRPr>
          </a:p>
          <a:p>
            <a:pPr marL="1384300" marR="74930" lvl="2" indent="-457200" algn="l" rtl="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作業量表智商(performance IQ)72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: 70&lt;IQ&lt;8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5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，智商</a:t>
            </a:r>
            <a:r>
              <a:rPr lang="zh-TW" altLang="en-US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臨界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程度</a:t>
            </a:r>
            <a:r>
              <a:rPr lang="zh-TW" altLang="en-US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 </a:t>
            </a:r>
            <a:endParaRPr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  <a:sym typeface="Calibri"/>
            </a:endParaRPr>
          </a:p>
          <a:p>
            <a:pPr marL="927100" marR="74930" lvl="1" indent="-457200" algn="l" rtl="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其他領域的評估依標準化工具測驗結果如下</a:t>
            </a:r>
            <a:endParaRPr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  <a:sym typeface="Calibri"/>
            </a:endParaRPr>
          </a:p>
          <a:p>
            <a:pPr marL="1384300" marR="74930" lvl="2" indent="-457200" algn="l" rtl="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認知量表百分等級9: 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臨界遲緩，(Bailey III: 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9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≦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百分等級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≦ 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16;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WPPSI/SB-V: 9 ≦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百分等級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≦ 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16)</a:t>
            </a:r>
            <a:endParaRPr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1384300" marR="74930" lvl="2" indent="-457200" algn="l" rtl="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溝通/語言量表百分等級＜0.1: 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遲緩，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百分等級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&lt;2</a:t>
            </a:r>
            <a:endParaRPr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  <a:sym typeface="Calibri"/>
            </a:endParaRPr>
          </a:p>
          <a:p>
            <a:pPr marL="1384300" marR="74930" lvl="2" indent="-457200" algn="l" rtl="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粗大動作百分等級為28: 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無異常，百分等級&gt;15</a:t>
            </a:r>
            <a:endParaRPr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  <a:sym typeface="Calibri"/>
            </a:endParaRPr>
          </a:p>
          <a:p>
            <a:pPr marL="1384300" marR="74930" lvl="2" indent="-457200" algn="l" rtl="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精細動作百分等級28: 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無異常，百分等級&gt;15</a:t>
            </a:r>
            <a:endParaRPr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  <a:sym typeface="Calibri"/>
            </a:endParaRPr>
          </a:p>
          <a:p>
            <a:pPr marL="1384300" marR="74930" lvl="2" indent="-457200" algn="l" rtl="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社會情緒量表百分等級1: 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遲緩，百分等級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&lt;7</a:t>
            </a:r>
            <a:endParaRPr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440684B-AB44-EB03-43C1-A7DC9089E73A}"/>
              </a:ext>
            </a:extLst>
          </p:cNvPr>
          <p:cNvSpPr txBox="1"/>
          <p:nvPr/>
        </p:nvSpPr>
        <p:spPr>
          <a:xfrm>
            <a:off x="11551920" y="165732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106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388FA-251B-EC61-FBC7-42539B325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40CD00-5868-9A34-82A7-448424347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需要詢問哪些問題來確立診斷？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AD74F2D-5EEB-5795-8FDD-06E31EFA1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67609"/>
            <a:ext cx="1014499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The American Academy of Pediatrics Committee on Genetics recommends genetic testing for FXS in children with any of the following, particularly when associated with 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physical and behavioral characteristics of FXS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or 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relative with undiagnosed intellectual disability</a:t>
            </a:r>
            <a:r>
              <a:rPr lang="zh-TW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身體和行為表現疑似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FXS 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，或有疑似智能不足以及符合下述任一，建議做基因檢測</a:t>
            </a:r>
            <a:endParaRPr lang="en-US" altLang="zh-TW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Developmental delay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發展遲緩</a:t>
            </a:r>
            <a:endParaRPr lang="en-US" altLang="zh-TW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Borderline intellectual abilities or intellectual disability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臨界智能不足</a:t>
            </a:r>
            <a:endParaRPr lang="en-US" altLang="zh-TW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Diagnosis of autism without a specific etiology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無特別原因診斷的自閉症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4302365-D9FC-ECAF-B68F-FA57D620A0CB}"/>
              </a:ext>
            </a:extLst>
          </p:cNvPr>
          <p:cNvSpPr txBox="1"/>
          <p:nvPr/>
        </p:nvSpPr>
        <p:spPr>
          <a:xfrm>
            <a:off x="3881869" y="6492875"/>
            <a:ext cx="83101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>
                <a:solidFill>
                  <a:srgbClr val="23232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Uptodate</a:t>
            </a:r>
            <a:r>
              <a:rPr lang="en-US" altLang="zh-TW" dirty="0">
                <a:solidFill>
                  <a:srgbClr val="23232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- fragile X syndrome: Clinical features and diagnosis in children and adolescents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490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>
          <a:extLst>
            <a:ext uri="{FF2B5EF4-FFF2-40B4-BE49-F238E27FC236}">
              <a16:creationId xmlns:a16="http://schemas.microsoft.com/office/drawing/2014/main" id="{3C3F7E01-BC33-5730-E6D2-54176D4F6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211">
            <a:extLst>
              <a:ext uri="{FF2B5EF4-FFF2-40B4-BE49-F238E27FC236}">
                <a16:creationId xmlns:a16="http://schemas.microsoft.com/office/drawing/2014/main" id="{CA23CA90-3565-3451-FA60-D747697EFC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zh-TW" altLang="zh-TW" dirty="0">
                <a:cs typeface="Calibri" panose="020F0502020204030204" pitchFamily="34" charset="0"/>
                <a:sym typeface="Arial"/>
              </a:rPr>
              <a:t>105</a:t>
            </a:r>
            <a:endParaRPr dirty="0">
              <a:cs typeface="Calibri" panose="020F0502020204030204" pitchFamily="34" charset="0"/>
            </a:endParaRPr>
          </a:p>
        </p:txBody>
      </p:sp>
      <p:sp>
        <p:nvSpPr>
          <p:cNvPr id="1295" name="Google Shape;1295;p211">
            <a:extLst>
              <a:ext uri="{FF2B5EF4-FFF2-40B4-BE49-F238E27FC236}">
                <a16:creationId xmlns:a16="http://schemas.microsoft.com/office/drawing/2014/main" id="{5DE2E850-F467-D6DD-52C4-032250FCFA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1575934"/>
            <a:ext cx="12191999" cy="5202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lvl="0" indent="-457200">
              <a:lnSpc>
                <a:spcPct val="12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altLang="zh-TW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5</a:t>
            </a:r>
            <a:r>
              <a:rPr lang="zh-TW" altLang="en-US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歲</a:t>
            </a:r>
            <a:r>
              <a:rPr lang="en-US" altLang="zh-TW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8</a:t>
            </a:r>
            <a:r>
              <a:rPr lang="zh-TW" altLang="en-US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個月的唐氏症</a:t>
            </a:r>
            <a:r>
              <a:rPr lang="en-US" altLang="zh-TW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(Down Syndrome)</a:t>
            </a:r>
            <a:r>
              <a:rPr lang="zh-TW" altLang="en-US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女童，前來兒童發展聯合評估中心接受評估，以做為進小學的鑑定安置之 用。魏氏幼兒智力量表修訂版</a:t>
            </a:r>
            <a:r>
              <a:rPr lang="en-US" altLang="zh-TW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(WPPSI-R)</a:t>
            </a:r>
            <a:r>
              <a:rPr lang="zh-TW" altLang="en-US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顯示全量表智商</a:t>
            </a:r>
            <a:r>
              <a:rPr lang="en-US" altLang="zh-TW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(full IQ) 57(</a:t>
            </a:r>
            <a:r>
              <a:rPr lang="zh-TW" altLang="en-US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百分等級 </a:t>
            </a:r>
            <a:r>
              <a:rPr lang="en-US" altLang="zh-TW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0.2)</a:t>
            </a:r>
            <a:r>
              <a:rPr lang="zh-TW" altLang="en-US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，語文量表智商</a:t>
            </a:r>
            <a:r>
              <a:rPr lang="en-US" altLang="zh-TW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(verbal IQ)  64</a:t>
            </a:r>
            <a:r>
              <a:rPr lang="zh-TW" altLang="en-US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，作業量表智商</a:t>
            </a:r>
            <a:r>
              <a:rPr lang="en-US" altLang="zh-TW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(performance IQ) 57</a:t>
            </a:r>
            <a:r>
              <a:rPr lang="zh-TW" altLang="en-US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。其他領域的評估依標準化工具測驗結果如下：語言理解部分百分等級小於</a:t>
            </a:r>
            <a:r>
              <a:rPr lang="en-US" altLang="zh-TW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1</a:t>
            </a:r>
            <a:r>
              <a:rPr lang="zh-TW" altLang="en-US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，語言表達部分百分等級</a:t>
            </a:r>
            <a:r>
              <a:rPr lang="en-US" altLang="zh-TW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1-2</a:t>
            </a:r>
            <a:r>
              <a:rPr lang="zh-TW" altLang="en-US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；粗大動作發展百分等級</a:t>
            </a:r>
            <a:r>
              <a:rPr lang="en-US" altLang="zh-TW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5</a:t>
            </a:r>
            <a:r>
              <a:rPr lang="zh-TW" altLang="en-US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，精細動作發展百分等級</a:t>
            </a:r>
            <a:r>
              <a:rPr lang="en-US" altLang="zh-TW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1</a:t>
            </a:r>
            <a:r>
              <a:rPr lang="zh-TW" altLang="en-US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；社會情緒發展百分等級</a:t>
            </a:r>
            <a:r>
              <a:rPr lang="en-US" altLang="zh-TW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12</a:t>
            </a:r>
            <a:r>
              <a:rPr lang="zh-TW" altLang="en-US" sz="31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。</a:t>
            </a:r>
            <a:endParaRPr lang="en-US" altLang="zh-TW" sz="3100" dirty="0">
              <a:cs typeface="Calibri" panose="020F0502020204030204" pitchFamily="34" charset="0"/>
            </a:endParaRPr>
          </a:p>
          <a:p>
            <a:pPr lvl="1" indent="-457200">
              <a:lnSpc>
                <a:spcPct val="12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你覺得她有哪些領域的發展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遲緩</a:t>
            </a:r>
            <a:r>
              <a:rPr lang="en-US" altLang="zh-TW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語言</a:t>
            </a:r>
            <a:r>
              <a:rPr lang="en-US" altLang="zh-TW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粗大動作</a:t>
            </a:r>
            <a:r>
              <a:rPr lang="en-US" altLang="zh-TW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精細動作</a:t>
            </a:r>
            <a:r>
              <a:rPr lang="en-US" altLang="zh-TW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情緒</a:t>
            </a:r>
            <a:r>
              <a:rPr lang="en-US" altLang="zh-TW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臨界</a:t>
            </a:r>
            <a:r>
              <a:rPr lang="en-US" altLang="zh-TW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</a:p>
          <a:p>
            <a:pPr lvl="1" indent="-457200">
              <a:lnSpc>
                <a:spcPct val="12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她智能障礙的程度等級為何</a:t>
            </a:r>
            <a:r>
              <a:rPr lang="en-US" altLang="zh-TW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輕度</a:t>
            </a:r>
            <a:endParaRPr lang="en-US" altLang="zh-TW" sz="25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lvl="1" indent="-457200">
              <a:lnSpc>
                <a:spcPct val="12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針對她的遲緩應該安排那些治療</a:t>
            </a:r>
            <a:r>
              <a:rPr lang="en-US" altLang="zh-TW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PT,OT,ST,PSY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 </a:t>
            </a:r>
            <a:endParaRPr lang="en-US" altLang="zh-TW" sz="25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lvl="1" indent="-457200">
              <a:lnSpc>
                <a:spcPct val="12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唐氏症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的原因為何</a:t>
            </a:r>
            <a:r>
              <a:rPr lang="en-US" altLang="zh-TW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除了發展遲緩外，還可能合併哪些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問題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？</a:t>
            </a:r>
          </a:p>
          <a:p>
            <a:pPr lvl="1" indent="-457200">
              <a:lnSpc>
                <a:spcPct val="12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有那些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醫療及社會資源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可申請及補助？身障手冊</a:t>
            </a:r>
            <a:r>
              <a:rPr lang="en-US" altLang="zh-TW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輕度</a:t>
            </a:r>
            <a:r>
              <a:rPr lang="en-US" altLang="zh-TW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、重大傷病卡</a:t>
            </a:r>
            <a:r>
              <a:rPr lang="en-US" altLang="zh-TW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永久</a:t>
            </a:r>
            <a:r>
              <a:rPr lang="en-US" altLang="zh-TW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、早療費用補助、社區早療資源</a:t>
            </a:r>
          </a:p>
          <a:p>
            <a:pPr lvl="1" indent="-457200">
              <a:lnSpc>
                <a:spcPct val="12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她入小學時應該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安置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在哪種班別？分散式資源班</a:t>
            </a:r>
          </a:p>
          <a:p>
            <a:pPr lvl="1" indent="-457200">
              <a:lnSpc>
                <a:spcPct val="12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一個</a:t>
            </a:r>
            <a:r>
              <a:rPr lang="en-US" altLang="zh-TW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5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到</a:t>
            </a:r>
            <a:r>
              <a:rPr lang="en-US" altLang="zh-TW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6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歲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之間正常發展的孩子在各個領域應該具備哪些能力</a:t>
            </a:r>
            <a:r>
              <a:rPr lang="en-US" altLang="zh-TW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endParaRPr lang="en-US" altLang="zh-TW" sz="25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lvl="1" indent="-457200">
              <a:lnSpc>
                <a:spcPct val="12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兒童發展聯合評估中心提供的一本完整的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綜合報告書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應該包含那些內容</a:t>
            </a:r>
            <a:r>
              <a:rPr lang="en-US" altLang="zh-TW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endParaRPr lang="en-US" altLang="zh-TW" sz="25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lvl="1" indent="-457200">
              <a:lnSpc>
                <a:spcPct val="12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請以</a:t>
            </a:r>
            <a:r>
              <a:rPr lang="en-US" altLang="zh-TW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ICF</a:t>
            </a:r>
            <a:r>
              <a:rPr lang="zh-TW" altLang="en-US" sz="25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模式描述唐氏症的整體性介入？</a:t>
            </a:r>
          </a:p>
        </p:txBody>
      </p:sp>
    </p:spTree>
    <p:extLst>
      <p:ext uri="{BB962C8B-B14F-4D97-AF65-F5344CB8AC3E}">
        <p14:creationId xmlns:p14="http://schemas.microsoft.com/office/powerpoint/2010/main" val="24909754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72"/>
          <p:cNvSpPr txBox="1">
            <a:spLocks noGrp="1"/>
          </p:cNvSpPr>
          <p:nvPr>
            <p:ph type="title"/>
          </p:nvPr>
        </p:nvSpPr>
        <p:spPr>
          <a:xfrm>
            <a:off x="0" y="-81683"/>
            <a:ext cx="1614055" cy="1110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2700" lvl="0" indent="0" algn="l" rtl="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zh-TW" sz="4400" dirty="0"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105</a:t>
            </a:r>
            <a:endParaRPr sz="4400" dirty="0"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</p:txBody>
      </p:sp>
      <p:sp>
        <p:nvSpPr>
          <p:cNvPr id="382" name="Google Shape;382;p172"/>
          <p:cNvSpPr txBox="1">
            <a:spLocks noGrp="1"/>
          </p:cNvSpPr>
          <p:nvPr>
            <p:ph type="body" idx="1"/>
          </p:nvPr>
        </p:nvSpPr>
        <p:spPr>
          <a:xfrm>
            <a:off x="519545" y="945573"/>
            <a:ext cx="11471563" cy="578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20000"/>
              </a:lnSpc>
              <a:spcBef>
                <a:spcPts val="7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zh-TW" sz="2800" dirty="0"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5歲8個月的唐氏症(Down Syndrome)女童，前來兒童發展聯合評估中心接受評估，以做為進小學的鑑定安置之 用。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42900" algn="l" rtl="0">
              <a:lnSpc>
                <a:spcPct val="120000"/>
              </a:lnSpc>
              <a:spcBef>
                <a:spcPts val="7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魏氏幼兒智力量表修訂版(WPPSI-R)顯示</a:t>
            </a:r>
            <a:endParaRPr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  <a:sym typeface="Calibri"/>
            </a:endParaRPr>
          </a:p>
          <a:p>
            <a:pPr marL="1371600" lvl="2" indent="-342900" algn="l" rtl="0">
              <a:lnSpc>
                <a:spcPct val="120000"/>
              </a:lnSpc>
              <a:spcBef>
                <a:spcPts val="7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全量表智商(full IQ) 57(百分等級 0.2)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: 遲緩，55&lt;IQ&lt;70，輕度智障</a:t>
            </a:r>
            <a:endParaRPr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  <a:sym typeface="Calibri"/>
            </a:endParaRPr>
          </a:p>
          <a:p>
            <a:pPr marL="1371600" lvl="2" indent="-342900" algn="l" rtl="0">
              <a:lnSpc>
                <a:spcPct val="120000"/>
              </a:lnSpc>
              <a:spcBef>
                <a:spcPts val="7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語文量表智商(verbal IQ)  64 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: 遲緩，55&lt;IQ&lt;70，輕度智障</a:t>
            </a:r>
            <a:endParaRPr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  <a:sym typeface="Calibri"/>
            </a:endParaRPr>
          </a:p>
          <a:p>
            <a:pPr marL="1371600" lvl="2" indent="-342900" algn="l" rtl="0">
              <a:lnSpc>
                <a:spcPct val="120000"/>
              </a:lnSpc>
              <a:spcBef>
                <a:spcPts val="7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作業量表智商(performance IQ) 57 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: 遲緩，55&lt;IQ&lt;70，輕度智障</a:t>
            </a:r>
            <a:endParaRPr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  <a:sym typeface="Calibri"/>
            </a:endParaRPr>
          </a:p>
          <a:p>
            <a:pPr marL="914400" lvl="1" indent="-342900" algn="l" rtl="0">
              <a:lnSpc>
                <a:spcPct val="120000"/>
              </a:lnSpc>
              <a:spcBef>
                <a:spcPts val="7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其他領域的評估依標準化工具測驗結果如下：</a:t>
            </a:r>
            <a:endParaRPr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  <a:sym typeface="Calibri"/>
            </a:endParaRPr>
          </a:p>
          <a:p>
            <a:pPr marL="1371600" lvl="2" indent="-342900" algn="l" rtl="0">
              <a:lnSpc>
                <a:spcPct val="120000"/>
              </a:lnSpc>
              <a:spcBef>
                <a:spcPts val="7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語言理解部分百分等級 小於1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 : 遲緩</a:t>
            </a:r>
            <a:endParaRPr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  <a:sym typeface="Calibri"/>
            </a:endParaRPr>
          </a:p>
          <a:p>
            <a:pPr marL="1371600" lvl="2" indent="-342900" algn="l" rtl="0">
              <a:lnSpc>
                <a:spcPct val="120000"/>
              </a:lnSpc>
              <a:spcBef>
                <a:spcPts val="7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語言表達部分百分等級1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 : 遲緩</a:t>
            </a:r>
            <a:endParaRPr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  <a:sym typeface="Calibri"/>
            </a:endParaRPr>
          </a:p>
          <a:p>
            <a:pPr marL="1371600" lvl="2" indent="-342900" algn="l" rtl="0">
              <a:lnSpc>
                <a:spcPct val="120000"/>
              </a:lnSpc>
              <a:spcBef>
                <a:spcPts val="7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粗大動作發展百分等級5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 </a:t>
            </a:r>
            <a:r>
              <a:rPr lang="zh-TW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:</a:t>
            </a:r>
            <a:r>
              <a:rPr lang="zh-TW" altLang="en-US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zh-TW" altLang="en-US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遲緩 </a:t>
            </a:r>
            <a:r>
              <a:rPr lang="en-US" altLang="zh-TW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(if PDMS2, PR 8-23, </a:t>
            </a:r>
            <a:r>
              <a:rPr lang="zh-TW" altLang="en-US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但清單建議看</a:t>
            </a:r>
            <a:r>
              <a:rPr lang="en-US" altLang="zh-TW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DQ)/</a:t>
            </a:r>
            <a:r>
              <a:rPr lang="zh-TW" altLang="en-US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臨界遲緩 </a:t>
            </a:r>
            <a:r>
              <a:rPr lang="en-US" altLang="zh-TW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(if</a:t>
            </a:r>
            <a:r>
              <a:rPr lang="zh-TW" altLang="en-US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BOT-2, PR3-17, </a:t>
            </a:r>
            <a:r>
              <a:rPr lang="zh-TW" altLang="en-US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但清單建議是看</a:t>
            </a:r>
            <a:r>
              <a:rPr lang="en-US" altLang="zh-TW" dirty="0">
                <a:solidFill>
                  <a:srgbClr val="0000FF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T score)</a:t>
            </a:r>
            <a:endParaRPr dirty="0">
              <a:solidFill>
                <a:srgbClr val="0000FF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  <a:sym typeface="Calibri"/>
            </a:endParaRPr>
          </a:p>
          <a:p>
            <a:pPr marL="1371600" lvl="2" indent="-342900" algn="l" rtl="0">
              <a:lnSpc>
                <a:spcPct val="120000"/>
              </a:lnSpc>
              <a:spcBef>
                <a:spcPts val="7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精細動作發展百分等級1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 : 遲緩</a:t>
            </a:r>
            <a:endParaRPr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  <a:sym typeface="Calibri"/>
            </a:endParaRPr>
          </a:p>
          <a:p>
            <a:pPr marL="1371600" lvl="2" indent="-342900" algn="l" rtl="0">
              <a:lnSpc>
                <a:spcPct val="120000"/>
              </a:lnSpc>
              <a:spcBef>
                <a:spcPts val="7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社會情緒發展百分等 級12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rPr>
              <a:t> : 臨界遲緩</a:t>
            </a:r>
            <a:endParaRPr sz="280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>
          <a:extLst>
            <a:ext uri="{FF2B5EF4-FFF2-40B4-BE49-F238E27FC236}">
              <a16:creationId xmlns:a16="http://schemas.microsoft.com/office/drawing/2014/main" id="{236F0852-635C-C917-8D72-244EF710B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211">
            <a:extLst>
              <a:ext uri="{FF2B5EF4-FFF2-40B4-BE49-F238E27FC236}">
                <a16:creationId xmlns:a16="http://schemas.microsoft.com/office/drawing/2014/main" id="{58A10A8B-DEBA-EEF7-58EF-85A2F45DE7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zh-TW" altLang="zh-TW" dirty="0">
                <a:cs typeface="Calibri" panose="020F0502020204030204" pitchFamily="34" charset="0"/>
                <a:sym typeface="Arial"/>
              </a:rPr>
              <a:t>103</a:t>
            </a:r>
            <a:endParaRPr dirty="0">
              <a:cs typeface="Calibri" panose="020F0502020204030204" pitchFamily="34" charset="0"/>
            </a:endParaRPr>
          </a:p>
        </p:txBody>
      </p:sp>
      <p:sp>
        <p:nvSpPr>
          <p:cNvPr id="1295" name="Google Shape;1295;p211">
            <a:extLst>
              <a:ext uri="{FF2B5EF4-FFF2-40B4-BE49-F238E27FC236}">
                <a16:creationId xmlns:a16="http://schemas.microsoft.com/office/drawing/2014/main" id="{C8ED548C-94C0-C032-C48B-F039B6E924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4320" y="1690688"/>
            <a:ext cx="11795760" cy="4915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4</a:t>
            </a:r>
            <a:r>
              <a:rPr lang="zh-TW" altLang="en-US" sz="24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歲的小明為</a:t>
            </a:r>
            <a:r>
              <a:rPr lang="en-US" altLang="zh-TW" sz="24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27</a:t>
            </a:r>
            <a:r>
              <a:rPr lang="zh-TW" altLang="en-US" sz="24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週出生的早產兒，在醫院住了</a:t>
            </a:r>
            <a:r>
              <a:rPr lang="en-US" altLang="zh-TW" sz="24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3</a:t>
            </a:r>
            <a:r>
              <a:rPr lang="zh-TW" altLang="en-US" sz="2400" dirty="0">
                <a:solidFill>
                  <a:srgbClr val="000000"/>
                </a:solidFill>
                <a:cs typeface="Calibri" panose="020F0502020204030204" pitchFamily="34" charset="0"/>
                <a:sym typeface="Arial"/>
              </a:rPr>
              <a:t>個月出院，病史包括呼吸窘迫症候群、腦室周圍白質軟化及視網膜病變。他的動作發展明顯遲緩，一歲半才會坐，下肢有明顯肌肉痙孿，目前只能以助行器行走短距離，有剪刀腳及墊腳尖問題；雙上肢精細動作尚可，只是較不協調，動作慢；語言發展及認知學習在正常範圍，但有注意力不集中，話多、衝動現象。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他的診斷為何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 CP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應該安排那些評估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PT/OT/ST/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情緒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智力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應該安排那些治療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 PT/OT/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心理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/spasticity/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視力</a:t>
            </a:r>
            <a:endParaRPr lang="en-US" altLang="zh-TW" sz="20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針對他的肌肉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痙孿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，有哪些方法可以處置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 (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由保守到積極侵入性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endParaRPr lang="en-US" altLang="zh-TW" sz="20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你覺得他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走路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的預後如何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 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有那些因素跟走路的預後有關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 2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歲前會坐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(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好的預後因子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)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；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Diplegia 80-90%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可走</a:t>
            </a:r>
            <a:endParaRPr lang="en-US" altLang="zh-TW" sz="20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  <a:p>
            <a:pPr lvl="1" indent="-457200">
              <a:lnSpc>
                <a:spcPct val="100000"/>
              </a:lnSpc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你覺得他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  <a:hlinkClick r:id="" action="ppaction://noaction"/>
              </a:rPr>
              <a:t>就業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的機會如何</a:t>
            </a:r>
            <a:r>
              <a:rPr lang="en-US" altLang="zh-TW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?</a:t>
            </a:r>
            <a:r>
              <a:rPr lang="zh-TW" altLang="en-US" sz="2000" dirty="0">
                <a:latin typeface="微軟正黑體" pitchFamily="34" charset="-120"/>
                <a:ea typeface="微軟正黑體" pitchFamily="34" charset="-120"/>
                <a:cs typeface="Calibri" panose="020F0502020204030204" pitchFamily="34" charset="0"/>
              </a:rPr>
              <a:t> 看智商程度 </a:t>
            </a:r>
            <a:endParaRPr lang="en-US" altLang="zh-TW" sz="2000" dirty="0">
              <a:latin typeface="微軟正黑體" pitchFamily="34" charset="-12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836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88926</TotalTime>
  <Words>5152</Words>
  <Application>Microsoft Office PowerPoint</Application>
  <PresentationFormat>寬螢幕</PresentationFormat>
  <Paragraphs>321</Paragraphs>
  <Slides>24</Slides>
  <Notes>21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2" baseType="lpstr">
      <vt:lpstr>Calibri</vt:lpstr>
      <vt:lpstr>Wingdings</vt:lpstr>
      <vt:lpstr>標楷體</vt:lpstr>
      <vt:lpstr>Noto Sans Symbols</vt:lpstr>
      <vt:lpstr>Arial</vt:lpstr>
      <vt:lpstr>Abadi</vt:lpstr>
      <vt:lpstr>微軟正黑體</vt:lpstr>
      <vt:lpstr>Office Theme</vt:lpstr>
      <vt:lpstr>小兒口試分析：一張紙有正反兩面，答完第一面才能翻，考官不講話，自問自答，會說可以答下一題</vt:lpstr>
      <vt:lpstr>整理歷屆考題的年齡</vt:lpstr>
      <vt:lpstr>114</vt:lpstr>
      <vt:lpstr>114</vt:lpstr>
      <vt:lpstr>114</vt:lpstr>
      <vt:lpstr>113</vt:lpstr>
      <vt:lpstr>113</vt:lpstr>
      <vt:lpstr>112</vt:lpstr>
      <vt:lpstr>112</vt:lpstr>
      <vt:lpstr>111</vt:lpstr>
      <vt:lpstr>111</vt:lpstr>
      <vt:lpstr>111</vt:lpstr>
      <vt:lpstr>111</vt:lpstr>
      <vt:lpstr>111</vt:lpstr>
      <vt:lpstr>108</vt:lpstr>
      <vt:lpstr>PowerPoint 簡報</vt:lpstr>
      <vt:lpstr>PowerPoint 簡報</vt:lpstr>
      <vt:lpstr>107</vt:lpstr>
      <vt:lpstr>106</vt:lpstr>
      <vt:lpstr>106</vt:lpstr>
      <vt:lpstr>需要詢問哪些問題來確立診斷？</vt:lpstr>
      <vt:lpstr>105</vt:lpstr>
      <vt:lpstr>105</vt:lpstr>
      <vt:lpstr>103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PED</dc:title>
  <dc:creator>hp</dc:creator>
  <cp:lastModifiedBy>瑞賢 丁</cp:lastModifiedBy>
  <cp:revision>1338</cp:revision>
  <dcterms:created xsi:type="dcterms:W3CDTF">2022-02-13T06:25:55Z</dcterms:created>
  <dcterms:modified xsi:type="dcterms:W3CDTF">2026-04-26T03:46:00Z</dcterms:modified>
</cp:coreProperties>
</file>